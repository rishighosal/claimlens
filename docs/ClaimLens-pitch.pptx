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11827"/>
                </a:solidFill>
                <a:latin typeface="Arial"/>
              </a:defRPr>
            </a:pPr>
            <a:r>
              <a:rPr sz="1400" b="0" i="0" u="none" strike="noStrike">
                <a:solidFill>
                  <a:srgbClr val="111827"/>
                </a:solidFill>
                <a:latin typeface="Arial"/>
              </a:rPr>
              <a:t>Fraud claims flagged per month (%)</a:t>
            </a:r>
          </a:p>
        </c:rich>
      </c:tx>
      <c:layout/>
      <c:overlay val="0"/>
    </c:title>
    <c:autoTitleDeleted val="0"/>
    <c:plotArea>
      <c:layout/>
      <c:lineChart>
        <c:varyColors val="0"/>
        <c:ser>
          <c:idx val="0"/>
          <c:order val="0"/>
          <c:tx>
            <c:strRef>
              <c:f>Sheet1!$B$1</c:f>
              <c:strCache>
                <c:ptCount val="1"/>
                <c:pt idx="0">
                  <c:v>With Hindsight memory</c:v>
                </c:pt>
              </c:strCache>
            </c:strRef>
          </c:tx>
          <c:spPr>
            <a:solidFill>
              <a:srgbClr val="6D28D9"/>
            </a:solidFill>
            <a:ln w="38100" cap="flat">
              <a:solidFill>
                <a:srgbClr val="6D28D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9"/>
            <c:spPr>
              <a:solidFill>
                <a:srgbClr val="6D28D9"/>
              </a:solidFill>
              <a:ln w="9525" cap="flat">
                <a:solidFill>
                  <a:srgbClr val="6D28D9"/>
                </a:solidFill>
                <a:prstDash val="solid"/>
                <a:round/>
              </a:ln>
              <a:effectLst/>
            </c:spPr>
          </c:marker>
          <c:cat>
            <c:multiLvlStrRef>
              <c:f>Sheet1!$A$2:$A$8</c:f>
              <c:multiLvlStrCache>
                <c:ptCount val="7"/>
                <c:lvl>
                  <c:pt idx="0">
                    <c:v>Mar</c:v>
                  </c:pt>
                  <c:pt idx="1">
                    <c:v>Apr</c:v>
                  </c:pt>
                  <c:pt idx="2">
                    <c:v>May</c:v>
                  </c:pt>
                  <c:pt idx="3">
                    <c:v>Jun</c:v>
                  </c:pt>
                  <c:pt idx="4">
                    <c:v>Jul</c:v>
                  </c:pt>
                  <c:pt idx="5">
                    <c:v>Aug</c:v>
                  </c:pt>
                  <c:pt idx="6">
                    <c:v>Sep</c:v>
                  </c:pt>
                </c:lvl>
              </c:multiLvlStrCache>
            </c:multiLvlStrRef>
          </c:cat>
          <c:val>
            <c:numRef>
              <c:f>Sheet1!$B$2:$B$8</c:f>
              <c:numCache>
                <c:formatCode>General</c:formatCode>
                <c:ptCount val="7"/>
                <c:pt idx="0">
                  <c:v>0</c:v>
                </c:pt>
                <c:pt idx="1">
                  <c:v>0</c:v>
                </c:pt>
                <c:pt idx="2">
                  <c:v>0</c:v>
                </c:pt>
                <c:pt idx="3">
                  <c:v>0</c:v>
                </c:pt>
                <c:pt idx="4">
                  <c:v>43</c:v>
                </c:pt>
                <c:pt idx="5">
                  <c:v>100</c:v>
                </c:pt>
                <c:pt idx="6">
                  <c:v>86</c:v>
                </c:pt>
              </c:numCache>
            </c:numRef>
          </c:val>
          <c:smooth val="0"/>
        </c:ser>
        <c:ser>
          <c:idx val="1"/>
          <c:order val="1"/>
          <c:tx>
            <c:strRef>
              <c:f>Sheet1!$C$1</c:f>
              <c:strCache>
                <c:ptCount val="1"/>
                <c:pt idx="0">
                  <c:v>Without memory</c:v>
                </c:pt>
              </c:strCache>
            </c:strRef>
          </c:tx>
          <c:spPr>
            <a:solidFill>
              <a:srgbClr val="9CA3AF"/>
            </a:solidFill>
            <a:ln w="38100" cap="flat">
              <a:solidFill>
                <a:srgbClr val="9CA3A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9"/>
            <c:spPr>
              <a:solidFill>
                <a:srgbClr val="9CA3AF"/>
              </a:solidFill>
              <a:ln w="9525" cap="flat">
                <a:solidFill>
                  <a:srgbClr val="9CA3AF"/>
                </a:solidFill>
                <a:prstDash val="solid"/>
                <a:round/>
              </a:ln>
              <a:effectLst/>
            </c:spPr>
          </c:marker>
          <c:cat>
            <c:multiLvlStrRef>
              <c:f>Sheet1!$A$2:$A$8</c:f>
              <c:multiLvlStrCache>
                <c:ptCount val="7"/>
                <c:lvl>
                  <c:pt idx="0">
                    <c:v>Mar</c:v>
                  </c:pt>
                  <c:pt idx="1">
                    <c:v>Apr</c:v>
                  </c:pt>
                  <c:pt idx="2">
                    <c:v>May</c:v>
                  </c:pt>
                  <c:pt idx="3">
                    <c:v>Jun</c:v>
                  </c:pt>
                  <c:pt idx="4">
                    <c:v>Jul</c:v>
                  </c:pt>
                  <c:pt idx="5">
                    <c:v>Aug</c:v>
                  </c:pt>
                  <c:pt idx="6">
                    <c:v>Sep</c:v>
                  </c:pt>
                </c:lvl>
              </c:multiLvlStrCache>
            </c:multiLvlStrRef>
          </c:cat>
          <c:val>
            <c:numRef>
              <c:f>Sheet1!$C$2:$C$8</c:f>
              <c:numCache>
                <c:formatCode>General</c:formatCode>
                <c:ptCount val="7"/>
                <c:pt idx="0">
                  <c:v>0</c:v>
                </c:pt>
                <c:pt idx="1">
                  <c:v>0</c:v>
                </c:pt>
                <c:pt idx="2">
                  <c:v>0</c:v>
                </c:pt>
                <c:pt idx="3">
                  <c:v>0</c:v>
                </c:pt>
                <c:pt idx="4">
                  <c:v>0</c:v>
                </c:pt>
                <c:pt idx="5">
                  <c:v>0</c:v>
                </c:pt>
                <c:pt idx="6">
                  <c:v>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74151"/>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EEE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Arial"/>
              </a:defRPr>
            </a:pPr>
            <a:endParaRPr lang="en-US"/>
          </a:p>
        </c:txPr>
        <c:crossAx val="2094734554"/>
        <c:crosses val="autoZero"/>
        <c:crossBetween val="between"/>
        <c:majorUnit val="25"/>
      </c:valAx>
      <c:spPr>
        <a:noFill/>
        <a:ln>
          <a:noFill/>
        </a:ln>
        <a:effectLst/>
      </c:spPr>
    </c:plotArea>
    <c:legend>
      <c:legendPos val="b"/>
      <c:overlay val="0"/>
      <c:txPr>
        <a:bodyPr/>
        <a:lstStyle/>
        <a:p>
          <a:pPr>
            <a:defRPr sz="1200">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we're team ClaimLens. We built a claims-triage agent for insurance fraud investigators that remembers every claim it has ever seen, using Hindsight as its memory. One number to keep in mind: with the same model and the same prompt, it went from catching zero of twelve fraud claims to eleven of twelve. The only difference is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three real claims from our dataset. Priya in July, Sneha in August, Suresh today. Different people, different cars. Each one on its own is a routine night-time hit-and-run, and a model reading one claim at a time scores Suresh 15 out of 100: fast-track, pay it. But Suresh's phone is Sneha's phone, and his bank account is Priya's bank account. The same surveyor signed off all three. And investigators repudiated Priya's and Sneha's claims as fraud on 7 and 8 September. None of that is in Suresh's file. It's in the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matters: Indian insurers lose an estimated eight to ten thousand crore rupees a year to fraud, waste and abuse, about 8 to 10 percent of payouts, according to BCG and Medi Assist. And since 1 April 2026, IRDAI requires every insurer to run a Fraud Monitoring Unit with red-flag indicators and an incident database. Organised rings are exactly what per-claim review misses.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can't existing tools do this? A rule like 'flag this garage' also hits honest customers: claim 10614 is a genuine rear-end at the same garage with a different surveyor. A stateless AI reads one claim at a time, so it can't know the phone number was used before. Memory is the only thing that sees combinations and learns from what investigators concluded.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it works. Every claim is retained into Hindsight at intake, with every identifier as an entity and a tag. For a new claim, the agent asks memory seventeen targeted questions in parallel. It grades each linked claim STRONG or WEAK before the model sees it, then scores the claim twice with the same model, once without memory and once with. When an investigator records an outcome, that's retained too, and the next claim is judged with it. We use retain, tag-scoped recall, reranked semantic recall, temporal recall, observations, reflect with directives, and a mental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app for the live demo, following the guided demo strip.] These four claims tell the story. 10595 goes from 15 to 87. I confirm fraud, then 10606 from the same ring picks up that outcome immediately. 10614, an honest claim at the same garage, stays at 22 because it only shares the garage. And 10597, the same car claiming the same damage a third time, goes to 75.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didn't want to eyeball it, so we replayed nine months of claims in date order. Memory never sees the future. Without memory: zero fraud caught all year. With Hindsight: nothing from March to June, which is correct, because the early ring claims were paid and nothing was confirmed yet. Then investigators confirm the first cases in July and detection jumps: 43, 100, 86 percent. Eleven of twelve in August and September, and not one honest claim flagged.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makes this different from a chatbot with a memory panel: outcomes are memories, so the agent learns; memory is used as precise investigator questions; evidence is graded before the model sees it, which is why honest customers aren't flagged; and we measured it with a leak-free ablation. The rules of evidence live inside the Hindsight bank as directives.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would an insurer adopt this? Start with a four-week pilot: replay their own closed claims into a Hindsight bank and run the same with-and-without comparison on their data. Then shadow mode, then production with one bank per insurer and the IIB caution repository imported. It maps directly onto IRDAI's framework. And it recommends; people decide.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Fraud rings hide in history. ClaimLens remembers it. Same model, same prompt: zero to eleven of twelve fraud claims caught, with no honest claims flagged. Thank you. We're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1B4B"/>
        </a:solidFill>
      </p:bgPr>
    </p:bg>
    <p:spTree>
      <p:nvGrpSpPr>
        <p:cNvPr id="1" name=""/>
        <p:cNvGrpSpPr/>
        <p:nvPr/>
      </p:nvGrpSpPr>
      <p:grpSpPr>
        <a:xfrm>
          <a:off x="0" y="0"/>
          <a:ext cx="0" cy="0"/>
          <a:chOff x="0" y="0"/>
          <a:chExt cx="0" cy="0"/>
        </a:xfrm>
      </p:grpSpPr>
      <p:sp>
        <p:nvSpPr>
          <p:cNvPr id="2" name="Shape 0"/>
          <p:cNvSpPr/>
          <p:nvPr/>
        </p:nvSpPr>
        <p:spPr>
          <a:xfrm>
            <a:off x="731520" y="1417320"/>
            <a:ext cx="822960" cy="822960"/>
          </a:xfrm>
          <a:prstGeom prst="ellipse">
            <a:avLst/>
          </a:prstGeom>
          <a:solidFill>
            <a:srgbClr val="6D28D9"/>
          </a:solidFill>
          <a:ln w="12700">
            <a:solidFill>
              <a:srgbClr val="6D28D9"/>
            </a:solidFill>
            <a:prstDash val="solid"/>
          </a:ln>
        </p:spPr>
      </p:sp>
      <p:pic>
        <p:nvPicPr>
          <p:cNvPr id="3" name="Image 0" descr="preencoded.png">    </p:cNvPr>
          <p:cNvPicPr>
            <a:picLocks noChangeAspect="1"/>
          </p:cNvPicPr>
          <p:nvPr/>
        </p:nvPicPr>
        <p:blipFill>
          <a:blip r:embed="rId1"/>
          <a:stretch>
            <a:fillRect/>
          </a:stretch>
        </p:blipFill>
        <p:spPr>
          <a:xfrm>
            <a:off x="937260" y="1623060"/>
            <a:ext cx="411480" cy="411480"/>
          </a:xfrm>
          <a:prstGeom prst="rect">
            <a:avLst/>
          </a:prstGeom>
        </p:spPr>
      </p:pic>
      <p:sp>
        <p:nvSpPr>
          <p:cNvPr id="4" name="Text 1"/>
          <p:cNvSpPr txBox="1"/>
          <p:nvPr/>
        </p:nvSpPr>
        <p:spPr>
          <a:xfrm>
            <a:off x="731520" y="2377440"/>
            <a:ext cx="10058400" cy="1005840"/>
          </a:xfrm>
          <a:prstGeom prst="rect">
            <a:avLst/>
          </a:prstGeom>
          <a:noFill/>
          <a:ln/>
        </p:spPr>
        <p:txBody>
          <a:bodyPr wrap="square" lIns="0" tIns="0" rIns="0" bIns="0" rtlCol="0" anchor="ctr"/>
          <a:lstStyle/>
          <a:p>
            <a:pPr indent="0" marL="0">
              <a:buNone/>
            </a:pPr>
            <a:r>
              <a:rPr lang="en-US" sz="6000" b="1" dirty="0">
                <a:solidFill>
                  <a:srgbClr val="FFFFFF"/>
                </a:solidFill>
                <a:latin typeface="Arial" pitchFamily="34" charset="0"/>
                <a:ea typeface="Arial" pitchFamily="34" charset="-122"/>
                <a:cs typeface="Arial" pitchFamily="34" charset="-120"/>
              </a:rPr>
              <a:t>ClaimLens</a:t>
            </a:r>
            <a:endParaRPr lang="en-US" sz="6000" dirty="0"/>
          </a:p>
        </p:txBody>
      </p:sp>
      <p:sp>
        <p:nvSpPr>
          <p:cNvPr id="5" name="Text 2"/>
          <p:cNvSpPr txBox="1"/>
          <p:nvPr/>
        </p:nvSpPr>
        <p:spPr>
          <a:xfrm>
            <a:off x="731520" y="3383280"/>
            <a:ext cx="10058400" cy="548640"/>
          </a:xfrm>
          <a:prstGeom prst="rect">
            <a:avLst/>
          </a:prstGeom>
          <a:noFill/>
          <a:ln/>
        </p:spPr>
        <p:txBody>
          <a:bodyPr wrap="square" lIns="0" tIns="0" rIns="0" bIns="0" rtlCol="0" anchor="ctr"/>
          <a:lstStyle/>
          <a:p>
            <a:pPr indent="0" marL="0">
              <a:buNone/>
            </a:pPr>
            <a:r>
              <a:rPr lang="en-US" sz="2600" dirty="0">
                <a:solidFill>
                  <a:srgbClr val="C4B5FD"/>
                </a:solidFill>
                <a:latin typeface="Arial" pitchFamily="34" charset="0"/>
                <a:ea typeface="Arial" pitchFamily="34" charset="-122"/>
                <a:cs typeface="Arial" pitchFamily="34" charset="-120"/>
              </a:rPr>
              <a:t>Claims triage that remembers every claim.</a:t>
            </a:r>
            <a:endParaRPr lang="en-US" sz="2600" dirty="0"/>
          </a:p>
        </p:txBody>
      </p:sp>
      <p:sp>
        <p:nvSpPr>
          <p:cNvPr id="6" name="Text 3"/>
          <p:cNvSpPr txBox="1"/>
          <p:nvPr/>
        </p:nvSpPr>
        <p:spPr>
          <a:xfrm>
            <a:off x="731520" y="3977640"/>
            <a:ext cx="10058400" cy="457200"/>
          </a:xfrm>
          <a:prstGeom prst="rect">
            <a:avLst/>
          </a:prstGeom>
          <a:noFill/>
          <a:ln/>
        </p:spPr>
        <p:txBody>
          <a:bodyPr wrap="square" lIns="0" tIns="0" rIns="0" bIns="0" rtlCol="0" anchor="ctr"/>
          <a:lstStyle/>
          <a:p>
            <a:pPr indent="0" marL="0">
              <a:buNone/>
            </a:pPr>
            <a:r>
              <a:rPr lang="en-US" sz="1800" dirty="0">
                <a:solidFill>
                  <a:srgbClr val="DDD6FE"/>
                </a:solidFill>
                <a:latin typeface="Calibri" pitchFamily="34" charset="0"/>
                <a:ea typeface="Calibri" pitchFamily="34" charset="-122"/>
                <a:cs typeface="Calibri" pitchFamily="34" charset="-120"/>
              </a:rPr>
              <a:t>An insurance fraud investigator with institutional memory, built on Hindsight.</a:t>
            </a:r>
            <a:endParaRPr lang="en-US" sz="1800" dirty="0"/>
          </a:p>
        </p:txBody>
      </p:sp>
      <p:sp>
        <p:nvSpPr>
          <p:cNvPr id="7" name="Text 4"/>
          <p:cNvSpPr txBox="1"/>
          <p:nvPr/>
        </p:nvSpPr>
        <p:spPr>
          <a:xfrm>
            <a:off x="731520" y="4846320"/>
            <a:ext cx="10515600" cy="457200"/>
          </a:xfrm>
          <a:prstGeom prst="rect">
            <a:avLst/>
          </a:prstGeom>
          <a:noFill/>
          <a:ln/>
        </p:spPr>
        <p:txBody>
          <a:bodyPr wrap="square" lIns="0" tIns="0" rIns="0" bIns="0" rtlCol="0" anchor="ctr"/>
          <a:lstStyle/>
          <a:p>
            <a:pPr indent="0" marL="0">
              <a:buNone/>
            </a:pPr>
            <a:r>
              <a:rPr lang="en-US" sz="1800" dirty="0">
                <a:solidFill>
                  <a:srgbClr val="C4B5FD"/>
                </a:solidFill>
                <a:latin typeface="Calibri" pitchFamily="34" charset="0"/>
                <a:ea typeface="Calibri" pitchFamily="34" charset="-122"/>
                <a:cs typeface="Calibri" pitchFamily="34" charset="-120"/>
              </a:rPr>
              <a:t>Same model, same prompt:  </a:t>
            </a:r>
            <a:pPr indent="0" marL="0">
              <a:buNone/>
            </a:pPr>
            <a:r>
              <a:rPr lang="en-US" sz="1800" b="1" dirty="0">
                <a:solidFill>
                  <a:srgbClr val="FFFFFF"/>
                </a:solidFill>
                <a:latin typeface="Calibri" pitchFamily="34" charset="0"/>
                <a:ea typeface="Calibri" pitchFamily="34" charset="-122"/>
                <a:cs typeface="Calibri" pitchFamily="34" charset="-120"/>
              </a:rPr>
              <a:t>0 of 12</a:t>
            </a:r>
            <a:pPr indent="0" marL="0">
              <a:buNone/>
            </a:pPr>
            <a:r>
              <a:rPr lang="en-US" sz="1800" dirty="0">
                <a:solidFill>
                  <a:srgbClr val="C4B5FD"/>
                </a:solidFill>
                <a:latin typeface="Calibri" pitchFamily="34" charset="0"/>
                <a:ea typeface="Calibri" pitchFamily="34" charset="-122"/>
                <a:cs typeface="Calibri" pitchFamily="34" charset="-120"/>
              </a:rPr>
              <a:t> fraud claims caught without memory  →  </a:t>
            </a:r>
            <a:pPr indent="0" marL="0">
              <a:buNone/>
            </a:pPr>
            <a:r>
              <a:rPr lang="en-US" sz="1800" b="1" dirty="0">
                <a:solidFill>
                  <a:srgbClr val="FFFFFF"/>
                </a:solidFill>
                <a:latin typeface="Calibri" pitchFamily="34" charset="0"/>
                <a:ea typeface="Calibri" pitchFamily="34" charset="-122"/>
                <a:cs typeface="Calibri" pitchFamily="34" charset="-120"/>
              </a:rPr>
              <a:t>11 of 12</a:t>
            </a:r>
            <a:pPr indent="0" marL="0">
              <a:buNone/>
            </a:pPr>
            <a:r>
              <a:rPr lang="en-US" sz="1800" dirty="0">
                <a:solidFill>
                  <a:srgbClr val="C4B5FD"/>
                </a:solidFill>
                <a:latin typeface="Calibri" pitchFamily="34" charset="0"/>
                <a:ea typeface="Calibri" pitchFamily="34" charset="-122"/>
                <a:cs typeface="Calibri" pitchFamily="34" charset="-120"/>
              </a:rPr>
              <a:t> with Hindsight</a:t>
            </a:r>
            <a:endParaRPr lang="en-US" sz="1800" dirty="0"/>
          </a:p>
        </p:txBody>
      </p:sp>
      <p:sp>
        <p:nvSpPr>
          <p:cNvPr id="8" name="Text 5"/>
          <p:cNvSpPr txBox="1"/>
          <p:nvPr/>
        </p:nvSpPr>
        <p:spPr>
          <a:xfrm>
            <a:off x="731520" y="6035040"/>
            <a:ext cx="5486400" cy="365760"/>
          </a:xfrm>
          <a:prstGeom prst="rect">
            <a:avLst/>
          </a:prstGeom>
          <a:noFill/>
          <a:ln/>
        </p:spPr>
        <p:txBody>
          <a:bodyPr wrap="square" lIns="0" tIns="0" rIns="0" bIns="0" rtlCol="0" anchor="ctr"/>
          <a:lstStyle/>
          <a:p>
            <a:pPr indent="0" marL="0">
              <a:buNone/>
            </a:pPr>
            <a:r>
              <a:rPr lang="en-US" sz="1400" dirty="0">
                <a:solidFill>
                  <a:srgbClr val="A5B4FC"/>
                </a:solidFill>
                <a:latin typeface="Calibri" pitchFamily="34" charset="0"/>
                <a:ea typeface="Calibri" pitchFamily="34" charset="-122"/>
                <a:cs typeface="Calibri" pitchFamily="34" charset="-120"/>
              </a:rPr>
              <a:t>github.com/rishighosal/claimlens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B"/>
        </a:solidFill>
      </p:bgPr>
    </p:bg>
    <p:spTree>
      <p:nvGrpSpPr>
        <p:cNvPr id="1" name=""/>
        <p:cNvGrpSpPr/>
        <p:nvPr/>
      </p:nvGrpSpPr>
      <p:grpSpPr>
        <a:xfrm>
          <a:off x="0" y="0"/>
          <a:ext cx="0" cy="0"/>
          <a:chOff x="0" y="0"/>
          <a:chExt cx="0" cy="0"/>
        </a:xfrm>
      </p:grpSpPr>
      <p:sp>
        <p:nvSpPr>
          <p:cNvPr id="2" name="Text 0"/>
          <p:cNvSpPr txBox="1"/>
          <p:nvPr/>
        </p:nvSpPr>
        <p:spPr>
          <a:xfrm>
            <a:off x="548640" y="182880"/>
            <a:ext cx="7315200" cy="274320"/>
          </a:xfrm>
          <a:prstGeom prst="rect">
            <a:avLst/>
          </a:prstGeom>
          <a:noFill/>
          <a:ln/>
        </p:spPr>
        <p:txBody>
          <a:bodyPr wrap="square" lIns="0" tIns="0" rIns="0" bIns="0" rtlCol="0" anchor="ctr"/>
          <a:lstStyle/>
          <a:p>
            <a:pPr indent="0" marL="0">
              <a:buNone/>
            </a:pPr>
            <a:r>
              <a:rPr lang="en-US" sz="1100" b="1" spc="300" kern="0" dirty="0">
                <a:solidFill>
                  <a:srgbClr val="6D28D9"/>
                </a:solidFill>
                <a:latin typeface="Arial" pitchFamily="34" charset="0"/>
                <a:ea typeface="Arial" pitchFamily="34" charset="-122"/>
                <a:cs typeface="Arial" pitchFamily="34" charset="-120"/>
              </a:rPr>
              <a:t>THE PROBLEM</a:t>
            </a:r>
            <a:endParaRPr lang="en-US" sz="1100" dirty="0"/>
          </a:p>
        </p:txBody>
      </p:sp>
      <p:sp>
        <p:nvSpPr>
          <p:cNvPr id="3" name="Text 1"/>
          <p:cNvSpPr txBox="1"/>
          <p:nvPr/>
        </p:nvSpPr>
        <p:spPr>
          <a:xfrm>
            <a:off x="548640" y="411480"/>
            <a:ext cx="11094415" cy="731520"/>
          </a:xfrm>
          <a:prstGeom prst="rect">
            <a:avLst/>
          </a:prstGeom>
          <a:noFill/>
          <a:ln/>
        </p:spPr>
        <p:txBody>
          <a:bodyPr wrap="square" lIns="0" tIns="0" rIns="0" bIns="0" rtlCol="0" anchor="t"/>
          <a:lstStyle/>
          <a:p>
            <a:pPr indent="0" marL="0">
              <a:buNone/>
            </a:pPr>
            <a:r>
              <a:rPr lang="en-US" sz="3000" b="1" dirty="0">
                <a:solidFill>
                  <a:srgbClr val="111827"/>
                </a:solidFill>
                <a:latin typeface="Arial" pitchFamily="34" charset="0"/>
                <a:ea typeface="Arial" pitchFamily="34" charset="-122"/>
                <a:cs typeface="Arial" pitchFamily="34" charset="-120"/>
              </a:rPr>
              <a:t>Every claim looks genuine. The fraud is in the pattern between them.</a:t>
            </a:r>
            <a:endParaRPr lang="en-US" sz="3000" dirty="0"/>
          </a:p>
        </p:txBody>
      </p:sp>
      <p:sp>
        <p:nvSpPr>
          <p:cNvPr id="4" name="Shape 2"/>
          <p:cNvSpPr/>
          <p:nvPr/>
        </p:nvSpPr>
        <p:spPr>
          <a:xfrm>
            <a:off x="548640" y="1554480"/>
            <a:ext cx="3611880" cy="4526280"/>
          </a:xfrm>
          <a:prstGeom prst="roundRect">
            <a:avLst>
              <a:gd name="adj" fmla="val 3038"/>
            </a:avLst>
          </a:prstGeom>
          <a:solidFill>
            <a:srgbClr val="FFFFFF"/>
          </a:solidFill>
          <a:ln w="12700">
            <a:solidFill>
              <a:srgbClr val="E5E7EB"/>
            </a:solidFill>
            <a:prstDash val="solid"/>
          </a:ln>
          <a:effectLst>
            <a:outerShdw sx="100000" sy="100000" kx="0" ky="0" algn="bl" rotWithShape="0" blurRad="101600" dist="25400" dir="5400000">
              <a:srgbClr val="000000">
                <a:alpha val="12000"/>
              </a:srgbClr>
            </a:outerShdw>
          </a:effectLst>
        </p:spPr>
      </p:sp>
      <p:sp>
        <p:nvSpPr>
          <p:cNvPr id="5" name="Text 3"/>
          <p:cNvSpPr txBox="1"/>
          <p:nvPr/>
        </p:nvSpPr>
        <p:spPr>
          <a:xfrm>
            <a:off x="777240" y="1719072"/>
            <a:ext cx="3154680" cy="274320"/>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#10566  </a:t>
            </a:r>
            <a:pPr indent="0" marL="0">
              <a:buNone/>
            </a:pPr>
            <a:r>
              <a:rPr lang="en-US" sz="1300" dirty="0">
                <a:solidFill>
                  <a:srgbClr val="6B7280"/>
                </a:solidFill>
                <a:latin typeface="Calibri" pitchFamily="34" charset="0"/>
                <a:ea typeface="Calibri" pitchFamily="34" charset="-122"/>
                <a:cs typeface="Calibri" pitchFamily="34" charset="-120"/>
              </a:rPr>
              <a:t>31 Jul</a:t>
            </a:r>
            <a:endParaRPr lang="en-US" sz="1300" dirty="0"/>
          </a:p>
        </p:txBody>
      </p:sp>
      <p:sp>
        <p:nvSpPr>
          <p:cNvPr id="6" name="Text 4"/>
          <p:cNvSpPr txBox="1"/>
          <p:nvPr/>
        </p:nvSpPr>
        <p:spPr>
          <a:xfrm>
            <a:off x="777240" y="1993392"/>
            <a:ext cx="3154680" cy="365760"/>
          </a:xfrm>
          <a:prstGeom prst="rect">
            <a:avLst/>
          </a:prstGeom>
          <a:noFill/>
          <a:ln/>
        </p:spPr>
        <p:txBody>
          <a:bodyPr wrap="square" lIns="0" tIns="0" rIns="0" bIns="0" rtlCol="0" anchor="ctr"/>
          <a:lstStyle/>
          <a:p>
            <a:pPr indent="0" marL="0">
              <a:buNone/>
            </a:pPr>
            <a:r>
              <a:rPr lang="en-US" sz="1900" b="1" dirty="0">
                <a:solidFill>
                  <a:srgbClr val="111827"/>
                </a:solidFill>
                <a:latin typeface="Arial" pitchFamily="34" charset="0"/>
                <a:ea typeface="Arial" pitchFamily="34" charset="-122"/>
                <a:cs typeface="Arial" pitchFamily="34" charset="-120"/>
              </a:rPr>
              <a:t>Priya Rao</a:t>
            </a:r>
            <a:endParaRPr lang="en-US" sz="1900" dirty="0"/>
          </a:p>
        </p:txBody>
      </p:sp>
      <p:sp>
        <p:nvSpPr>
          <p:cNvPr id="7" name="Text 5"/>
          <p:cNvSpPr txBox="1"/>
          <p:nvPr/>
        </p:nvSpPr>
        <p:spPr>
          <a:xfrm>
            <a:off x="777240" y="2359152"/>
            <a:ext cx="3154680" cy="256032"/>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Maruti Ertiga · ₹97,000</a:t>
            </a:r>
            <a:endParaRPr lang="en-US" sz="1200" dirty="0"/>
          </a:p>
        </p:txBody>
      </p:sp>
      <p:sp>
        <p:nvSpPr>
          <p:cNvPr id="8" name="Shape 6"/>
          <p:cNvSpPr/>
          <p:nvPr/>
        </p:nvSpPr>
        <p:spPr>
          <a:xfrm>
            <a:off x="713232" y="2670048"/>
            <a:ext cx="3282696" cy="457200"/>
          </a:xfrm>
          <a:prstGeom prst="roundRect">
            <a:avLst>
              <a:gd name="adj" fmla="val 16000"/>
            </a:avLst>
          </a:prstGeom>
          <a:solidFill>
            <a:srgbClr val="FFFFFF"/>
          </a:solidFill>
          <a:ln w="12700">
            <a:solidFill>
              <a:srgbClr val="FFFFFF"/>
            </a:solidFill>
            <a:prstDash val="solid"/>
          </a:ln>
        </p:spPr>
      </p:sp>
      <p:sp>
        <p:nvSpPr>
          <p:cNvPr id="9" name="Text 7"/>
          <p:cNvSpPr txBox="1"/>
          <p:nvPr/>
        </p:nvSpPr>
        <p:spPr>
          <a:xfrm>
            <a:off x="822960" y="2715768"/>
            <a:ext cx="3063240" cy="18288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PHONE</a:t>
            </a:r>
            <a:endParaRPr lang="en-US" sz="900" dirty="0"/>
          </a:p>
        </p:txBody>
      </p:sp>
      <p:sp>
        <p:nvSpPr>
          <p:cNvPr id="10" name="Text 8"/>
          <p:cNvSpPr txBox="1"/>
          <p:nvPr/>
        </p:nvSpPr>
        <p:spPr>
          <a:xfrm>
            <a:off x="822960" y="2871216"/>
            <a:ext cx="3063240" cy="228600"/>
          </a:xfrm>
          <a:prstGeom prst="rect">
            <a:avLst/>
          </a:prstGeom>
          <a:noFill/>
          <a:ln/>
        </p:spPr>
        <p:txBody>
          <a:bodyPr wrap="square" lIns="0" tIns="0" rIns="0" bIns="0" rtlCol="0" anchor="t"/>
          <a:lstStyle/>
          <a:p>
            <a:pPr indent="0" marL="0">
              <a:buNone/>
            </a:pPr>
            <a:r>
              <a:rPr lang="en-US" sz="1250" dirty="0">
                <a:solidFill>
                  <a:srgbClr val="111827"/>
                </a:solidFill>
                <a:latin typeface="Calibri" pitchFamily="34" charset="0"/>
                <a:ea typeface="Calibri" pitchFamily="34" charset="-122"/>
                <a:cs typeface="Calibri" pitchFamily="34" charset="-120"/>
              </a:rPr>
              <a:t>+91 85844 48185</a:t>
            </a:r>
            <a:endParaRPr lang="en-US" sz="1250" dirty="0"/>
          </a:p>
        </p:txBody>
      </p:sp>
      <p:sp>
        <p:nvSpPr>
          <p:cNvPr id="11" name="Shape 9"/>
          <p:cNvSpPr/>
          <p:nvPr/>
        </p:nvSpPr>
        <p:spPr>
          <a:xfrm>
            <a:off x="713232" y="3182112"/>
            <a:ext cx="3282696" cy="457200"/>
          </a:xfrm>
          <a:prstGeom prst="roundRect">
            <a:avLst>
              <a:gd name="adj" fmla="val 16000"/>
            </a:avLst>
          </a:prstGeom>
          <a:solidFill>
            <a:srgbClr val="FDECEC"/>
          </a:solidFill>
          <a:ln w="12700">
            <a:solidFill>
              <a:srgbClr val="F3B0B0"/>
            </a:solidFill>
            <a:prstDash val="solid"/>
          </a:ln>
        </p:spPr>
      </p:sp>
      <p:sp>
        <p:nvSpPr>
          <p:cNvPr id="12" name="Text 10"/>
          <p:cNvSpPr txBox="1"/>
          <p:nvPr/>
        </p:nvSpPr>
        <p:spPr>
          <a:xfrm>
            <a:off x="822960" y="3227832"/>
            <a:ext cx="3063240" cy="18288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PAYEE BANK ACCOUNT</a:t>
            </a:r>
            <a:endParaRPr lang="en-US" sz="900" dirty="0"/>
          </a:p>
        </p:txBody>
      </p:sp>
      <p:sp>
        <p:nvSpPr>
          <p:cNvPr id="13" name="Text 11"/>
          <p:cNvSpPr txBox="1"/>
          <p:nvPr/>
        </p:nvSpPr>
        <p:spPr>
          <a:xfrm>
            <a:off x="822960" y="3383280"/>
            <a:ext cx="3063240" cy="228600"/>
          </a:xfrm>
          <a:prstGeom prst="rect">
            <a:avLst/>
          </a:prstGeom>
          <a:noFill/>
          <a:ln/>
        </p:spPr>
        <p:txBody>
          <a:bodyPr wrap="square" lIns="0" tIns="0" rIns="0" bIns="0" rtlCol="0" anchor="t"/>
          <a:lstStyle/>
          <a:p>
            <a:pPr indent="0" marL="0">
              <a:buNone/>
            </a:pPr>
            <a:r>
              <a:rPr lang="en-US" sz="1250" dirty="0">
                <a:solidFill>
                  <a:srgbClr val="111827"/>
                </a:solidFill>
                <a:latin typeface="Calibri" pitchFamily="34" charset="0"/>
                <a:ea typeface="Calibri" pitchFamily="34" charset="-122"/>
                <a:cs typeface="Calibri" pitchFamily="34" charset="-120"/>
              </a:rPr>
              <a:t>UBIN078058 / …5762</a:t>
            </a:r>
            <a:endParaRPr lang="en-US" sz="1250" dirty="0"/>
          </a:p>
        </p:txBody>
      </p:sp>
      <p:sp>
        <p:nvSpPr>
          <p:cNvPr id="14" name="Shape 12"/>
          <p:cNvSpPr/>
          <p:nvPr/>
        </p:nvSpPr>
        <p:spPr>
          <a:xfrm>
            <a:off x="713232" y="3694176"/>
            <a:ext cx="3282696" cy="457200"/>
          </a:xfrm>
          <a:prstGeom prst="roundRect">
            <a:avLst>
              <a:gd name="adj" fmla="val 16000"/>
            </a:avLst>
          </a:prstGeom>
          <a:solidFill>
            <a:srgbClr val="EEF4FF"/>
          </a:solidFill>
          <a:ln w="12700">
            <a:solidFill>
              <a:srgbClr val="BCD0FB"/>
            </a:solidFill>
            <a:prstDash val="solid"/>
          </a:ln>
        </p:spPr>
      </p:sp>
      <p:sp>
        <p:nvSpPr>
          <p:cNvPr id="15" name="Text 13"/>
          <p:cNvSpPr txBox="1"/>
          <p:nvPr/>
        </p:nvSpPr>
        <p:spPr>
          <a:xfrm>
            <a:off x="822960" y="3739896"/>
            <a:ext cx="3063240" cy="18288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SURVEYOR</a:t>
            </a:r>
            <a:endParaRPr lang="en-US" sz="900" dirty="0"/>
          </a:p>
        </p:txBody>
      </p:sp>
      <p:sp>
        <p:nvSpPr>
          <p:cNvPr id="16" name="Text 14"/>
          <p:cNvSpPr txBox="1"/>
          <p:nvPr/>
        </p:nvSpPr>
        <p:spPr>
          <a:xfrm>
            <a:off x="822960" y="3895344"/>
            <a:ext cx="3063240" cy="228600"/>
          </a:xfrm>
          <a:prstGeom prst="rect">
            <a:avLst/>
          </a:prstGeom>
          <a:noFill/>
          <a:ln/>
        </p:spPr>
        <p:txBody>
          <a:bodyPr wrap="square" lIns="0" tIns="0" rIns="0" bIns="0" rtlCol="0" anchor="t"/>
          <a:lstStyle/>
          <a:p>
            <a:pPr indent="0" marL="0">
              <a:buNone/>
            </a:pPr>
            <a:r>
              <a:rPr lang="en-US" sz="1250" dirty="0">
                <a:solidFill>
                  <a:srgbClr val="111827"/>
                </a:solidFill>
                <a:latin typeface="Calibri" pitchFamily="34" charset="0"/>
                <a:ea typeface="Calibri" pitchFamily="34" charset="-122"/>
                <a:cs typeface="Calibri" pitchFamily="34" charset="-120"/>
              </a:rPr>
              <a:t>K. Venkat Rao</a:t>
            </a:r>
            <a:endParaRPr lang="en-US" sz="1250" dirty="0"/>
          </a:p>
        </p:txBody>
      </p:sp>
      <p:sp>
        <p:nvSpPr>
          <p:cNvPr id="17" name="Shape 15"/>
          <p:cNvSpPr/>
          <p:nvPr/>
        </p:nvSpPr>
        <p:spPr>
          <a:xfrm>
            <a:off x="713232" y="4206240"/>
            <a:ext cx="3282696" cy="457200"/>
          </a:xfrm>
          <a:prstGeom prst="roundRect">
            <a:avLst>
              <a:gd name="adj" fmla="val 16000"/>
            </a:avLst>
          </a:prstGeom>
          <a:solidFill>
            <a:srgbClr val="EEF4FF"/>
          </a:solidFill>
          <a:ln w="12700">
            <a:solidFill>
              <a:srgbClr val="BCD0FB"/>
            </a:solidFill>
            <a:prstDash val="solid"/>
          </a:ln>
        </p:spPr>
      </p:sp>
      <p:sp>
        <p:nvSpPr>
          <p:cNvPr id="18" name="Text 16"/>
          <p:cNvSpPr txBox="1"/>
          <p:nvPr/>
        </p:nvSpPr>
        <p:spPr>
          <a:xfrm>
            <a:off x="822960" y="4251960"/>
            <a:ext cx="3063240" cy="18288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GARAGE</a:t>
            </a:r>
            <a:endParaRPr lang="en-US" sz="900" dirty="0"/>
          </a:p>
        </p:txBody>
      </p:sp>
      <p:sp>
        <p:nvSpPr>
          <p:cNvPr id="19" name="Text 17"/>
          <p:cNvSpPr txBox="1"/>
          <p:nvPr/>
        </p:nvSpPr>
        <p:spPr>
          <a:xfrm>
            <a:off x="822960" y="4407408"/>
            <a:ext cx="3063240" cy="228600"/>
          </a:xfrm>
          <a:prstGeom prst="rect">
            <a:avLst/>
          </a:prstGeom>
          <a:noFill/>
          <a:ln/>
        </p:spPr>
        <p:txBody>
          <a:bodyPr wrap="square" lIns="0" tIns="0" rIns="0" bIns="0" rtlCol="0" anchor="t"/>
          <a:lstStyle/>
          <a:p>
            <a:pPr indent="0" marL="0">
              <a:buNone/>
            </a:pPr>
            <a:r>
              <a:rPr lang="en-US" sz="1250" dirty="0">
                <a:solidFill>
                  <a:srgbClr val="111827"/>
                </a:solidFill>
                <a:latin typeface="Calibri" pitchFamily="34" charset="0"/>
                <a:ea typeface="Calibri" pitchFamily="34" charset="-122"/>
                <a:cs typeface="Calibri" pitchFamily="34" charset="-120"/>
              </a:rPr>
              <a:t>Sri Balaji Auto Works</a:t>
            </a:r>
            <a:endParaRPr lang="en-US" sz="1250" dirty="0"/>
          </a:p>
        </p:txBody>
      </p:sp>
      <p:sp>
        <p:nvSpPr>
          <p:cNvPr id="20" name="Shape 18"/>
          <p:cNvSpPr/>
          <p:nvPr/>
        </p:nvSpPr>
        <p:spPr>
          <a:xfrm>
            <a:off x="713232" y="4718304"/>
            <a:ext cx="3282696" cy="713232"/>
          </a:xfrm>
          <a:prstGeom prst="roundRect">
            <a:avLst>
              <a:gd name="adj" fmla="val 10256"/>
            </a:avLst>
          </a:prstGeom>
          <a:solidFill>
            <a:srgbClr val="F6F3FF"/>
          </a:solidFill>
          <a:ln w="12700">
            <a:solidFill>
              <a:srgbClr val="D9CCFF"/>
            </a:solidFill>
            <a:prstDash val="solid"/>
          </a:ln>
        </p:spPr>
      </p:sp>
      <p:sp>
        <p:nvSpPr>
          <p:cNvPr id="21" name="Text 19"/>
          <p:cNvSpPr txBox="1"/>
          <p:nvPr/>
        </p:nvSpPr>
        <p:spPr>
          <a:xfrm>
            <a:off x="822960" y="4764024"/>
            <a:ext cx="3063240" cy="18288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THEIR STORY</a:t>
            </a:r>
            <a:endParaRPr lang="en-US" sz="900" dirty="0"/>
          </a:p>
        </p:txBody>
      </p:sp>
      <p:sp>
        <p:nvSpPr>
          <p:cNvPr id="22" name="Text 20"/>
          <p:cNvSpPr txBox="1"/>
          <p:nvPr/>
        </p:nvSpPr>
        <p:spPr>
          <a:xfrm>
            <a:off x="822960" y="4919472"/>
            <a:ext cx="3063240" cy="484632"/>
          </a:xfrm>
          <a:prstGeom prst="rect">
            <a:avLst/>
          </a:prstGeom>
          <a:noFill/>
          <a:ln/>
        </p:spPr>
        <p:txBody>
          <a:bodyPr wrap="square" lIns="0" tIns="0" rIns="0" bIns="0" rtlCol="0" anchor="t"/>
          <a:lstStyle/>
          <a:p>
            <a:pPr indent="0" marL="0">
              <a:buNone/>
            </a:pPr>
            <a:r>
              <a:rPr lang="en-US" sz="1150" dirty="0">
                <a:solidFill>
                  <a:srgbClr val="111827"/>
                </a:solidFill>
                <a:latin typeface="Calibri" pitchFamily="34" charset="0"/>
                <a:ea typeface="Calibri" pitchFamily="34" charset="-122"/>
                <a:cs typeface="Calibri" pitchFamily="34" charset="-120"/>
              </a:rPr>
              <a:t>“…unknown vehicle hit from behind and fled the spot.”</a:t>
            </a:r>
            <a:endParaRPr lang="en-US" sz="1150" dirty="0"/>
          </a:p>
        </p:txBody>
      </p:sp>
      <p:sp>
        <p:nvSpPr>
          <p:cNvPr id="23" name="Shape 21"/>
          <p:cNvSpPr/>
          <p:nvPr/>
        </p:nvSpPr>
        <p:spPr>
          <a:xfrm>
            <a:off x="713232" y="5550408"/>
            <a:ext cx="3282696" cy="384048"/>
          </a:xfrm>
          <a:prstGeom prst="roundRect">
            <a:avLst>
              <a:gd name="adj" fmla="val 19048"/>
            </a:avLst>
          </a:prstGeom>
          <a:solidFill>
            <a:srgbClr val="FDECEC"/>
          </a:solidFill>
          <a:ln w="12700">
            <a:solidFill>
              <a:srgbClr val="FDECEC"/>
            </a:solidFill>
            <a:prstDash val="solid"/>
          </a:ln>
        </p:spPr>
      </p:sp>
      <p:sp>
        <p:nvSpPr>
          <p:cNvPr id="24" name="Text 22"/>
          <p:cNvSpPr txBox="1"/>
          <p:nvPr/>
        </p:nvSpPr>
        <p:spPr>
          <a:xfrm>
            <a:off x="822960" y="5550408"/>
            <a:ext cx="3063240" cy="384048"/>
          </a:xfrm>
          <a:prstGeom prst="rect">
            <a:avLst/>
          </a:prstGeom>
          <a:noFill/>
          <a:ln/>
        </p:spPr>
        <p:txBody>
          <a:bodyPr wrap="square" lIns="0" tIns="0" rIns="0" bIns="0" rtlCol="0" anchor="ctr"/>
          <a:lstStyle/>
          <a:p>
            <a:pPr indent="0" marL="0">
              <a:buNone/>
            </a:pPr>
            <a:r>
              <a:rPr lang="en-US" sz="1250" b="1" dirty="0">
                <a:solidFill>
                  <a:srgbClr val="B91C1C"/>
                </a:solidFill>
                <a:latin typeface="Calibri" pitchFamily="34" charset="0"/>
                <a:ea typeface="Calibri" pitchFamily="34" charset="-122"/>
                <a:cs typeface="Calibri" pitchFamily="34" charset="-120"/>
              </a:rPr>
              <a:t>Repudiated as fraud · 7 Sep</a:t>
            </a:r>
            <a:endParaRPr lang="en-US" sz="1250" dirty="0"/>
          </a:p>
        </p:txBody>
      </p:sp>
      <p:sp>
        <p:nvSpPr>
          <p:cNvPr id="25" name="Shape 23"/>
          <p:cNvSpPr/>
          <p:nvPr/>
        </p:nvSpPr>
        <p:spPr>
          <a:xfrm>
            <a:off x="4434840" y="1554480"/>
            <a:ext cx="3611880" cy="4526280"/>
          </a:xfrm>
          <a:prstGeom prst="roundRect">
            <a:avLst>
              <a:gd name="adj" fmla="val 3038"/>
            </a:avLst>
          </a:prstGeom>
          <a:solidFill>
            <a:srgbClr val="FFFFFF"/>
          </a:solidFill>
          <a:ln w="12700">
            <a:solidFill>
              <a:srgbClr val="E5E7EB"/>
            </a:solidFill>
            <a:prstDash val="solid"/>
          </a:ln>
          <a:effectLst>
            <a:outerShdw sx="100000" sy="100000" kx="0" ky="0" algn="bl" rotWithShape="0" blurRad="101600" dist="25400" dir="5400000">
              <a:srgbClr val="000000">
                <a:alpha val="12000"/>
              </a:srgbClr>
            </a:outerShdw>
          </a:effectLst>
        </p:spPr>
      </p:sp>
      <p:sp>
        <p:nvSpPr>
          <p:cNvPr id="26" name="Text 24"/>
          <p:cNvSpPr txBox="1"/>
          <p:nvPr/>
        </p:nvSpPr>
        <p:spPr>
          <a:xfrm>
            <a:off x="4663440" y="1719072"/>
            <a:ext cx="3154680" cy="274320"/>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#10572  </a:t>
            </a:r>
            <a:pPr indent="0" marL="0">
              <a:buNone/>
            </a:pPr>
            <a:r>
              <a:rPr lang="en-US" sz="1300" dirty="0">
                <a:solidFill>
                  <a:srgbClr val="6B7280"/>
                </a:solidFill>
                <a:latin typeface="Calibri" pitchFamily="34" charset="0"/>
                <a:ea typeface="Calibri" pitchFamily="34" charset="-122"/>
                <a:cs typeface="Calibri" pitchFamily="34" charset="-120"/>
              </a:rPr>
              <a:t>9 Aug</a:t>
            </a:r>
            <a:endParaRPr lang="en-US" sz="1300" dirty="0"/>
          </a:p>
        </p:txBody>
      </p:sp>
      <p:sp>
        <p:nvSpPr>
          <p:cNvPr id="27" name="Text 25"/>
          <p:cNvSpPr txBox="1"/>
          <p:nvPr/>
        </p:nvSpPr>
        <p:spPr>
          <a:xfrm>
            <a:off x="4663440" y="1993392"/>
            <a:ext cx="3154680" cy="365760"/>
          </a:xfrm>
          <a:prstGeom prst="rect">
            <a:avLst/>
          </a:prstGeom>
          <a:noFill/>
          <a:ln/>
        </p:spPr>
        <p:txBody>
          <a:bodyPr wrap="square" lIns="0" tIns="0" rIns="0" bIns="0" rtlCol="0" anchor="ctr"/>
          <a:lstStyle/>
          <a:p>
            <a:pPr indent="0" marL="0">
              <a:buNone/>
            </a:pPr>
            <a:r>
              <a:rPr lang="en-US" sz="1900" b="1" dirty="0">
                <a:solidFill>
                  <a:srgbClr val="111827"/>
                </a:solidFill>
                <a:latin typeface="Arial" pitchFamily="34" charset="0"/>
                <a:ea typeface="Arial" pitchFamily="34" charset="-122"/>
                <a:cs typeface="Arial" pitchFamily="34" charset="-120"/>
              </a:rPr>
              <a:t>Sneha Deshmukh</a:t>
            </a:r>
            <a:endParaRPr lang="en-US" sz="1900" dirty="0"/>
          </a:p>
        </p:txBody>
      </p:sp>
      <p:sp>
        <p:nvSpPr>
          <p:cNvPr id="28" name="Text 26"/>
          <p:cNvSpPr txBox="1"/>
          <p:nvPr/>
        </p:nvSpPr>
        <p:spPr>
          <a:xfrm>
            <a:off x="4663440" y="2359152"/>
            <a:ext cx="3154680" cy="256032"/>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Hyundai Creta · ₹1,04,500</a:t>
            </a:r>
            <a:endParaRPr lang="en-US" sz="1200" dirty="0"/>
          </a:p>
        </p:txBody>
      </p:sp>
      <p:sp>
        <p:nvSpPr>
          <p:cNvPr id="29" name="Shape 27"/>
          <p:cNvSpPr/>
          <p:nvPr/>
        </p:nvSpPr>
        <p:spPr>
          <a:xfrm>
            <a:off x="4599432" y="2670048"/>
            <a:ext cx="3282696" cy="457200"/>
          </a:xfrm>
          <a:prstGeom prst="roundRect">
            <a:avLst>
              <a:gd name="adj" fmla="val 16000"/>
            </a:avLst>
          </a:prstGeom>
          <a:solidFill>
            <a:srgbClr val="FDECEC"/>
          </a:solidFill>
          <a:ln w="12700">
            <a:solidFill>
              <a:srgbClr val="F3B0B0"/>
            </a:solidFill>
            <a:prstDash val="solid"/>
          </a:ln>
        </p:spPr>
      </p:sp>
      <p:sp>
        <p:nvSpPr>
          <p:cNvPr id="30" name="Text 28"/>
          <p:cNvSpPr txBox="1"/>
          <p:nvPr/>
        </p:nvSpPr>
        <p:spPr>
          <a:xfrm>
            <a:off x="4709160" y="2715768"/>
            <a:ext cx="3063240" cy="18288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PHONE</a:t>
            </a:r>
            <a:endParaRPr lang="en-US" sz="900" dirty="0"/>
          </a:p>
        </p:txBody>
      </p:sp>
      <p:sp>
        <p:nvSpPr>
          <p:cNvPr id="31" name="Text 29"/>
          <p:cNvSpPr txBox="1"/>
          <p:nvPr/>
        </p:nvSpPr>
        <p:spPr>
          <a:xfrm>
            <a:off x="4709160" y="2871216"/>
            <a:ext cx="3063240" cy="228600"/>
          </a:xfrm>
          <a:prstGeom prst="rect">
            <a:avLst/>
          </a:prstGeom>
          <a:noFill/>
          <a:ln/>
        </p:spPr>
        <p:txBody>
          <a:bodyPr wrap="square" lIns="0" tIns="0" rIns="0" bIns="0" rtlCol="0" anchor="t"/>
          <a:lstStyle/>
          <a:p>
            <a:pPr indent="0" marL="0">
              <a:buNone/>
            </a:pPr>
            <a:r>
              <a:rPr lang="en-US" sz="1250" dirty="0">
                <a:solidFill>
                  <a:srgbClr val="111827"/>
                </a:solidFill>
                <a:latin typeface="Calibri" pitchFamily="34" charset="0"/>
                <a:ea typeface="Calibri" pitchFamily="34" charset="-122"/>
                <a:cs typeface="Calibri" pitchFamily="34" charset="-120"/>
              </a:rPr>
              <a:t>+91 88197 21356</a:t>
            </a:r>
            <a:endParaRPr lang="en-US" sz="1250" dirty="0"/>
          </a:p>
        </p:txBody>
      </p:sp>
      <p:sp>
        <p:nvSpPr>
          <p:cNvPr id="32" name="Shape 30"/>
          <p:cNvSpPr/>
          <p:nvPr/>
        </p:nvSpPr>
        <p:spPr>
          <a:xfrm>
            <a:off x="4599432" y="3182112"/>
            <a:ext cx="3282696" cy="457200"/>
          </a:xfrm>
          <a:prstGeom prst="roundRect">
            <a:avLst>
              <a:gd name="adj" fmla="val 16000"/>
            </a:avLst>
          </a:prstGeom>
          <a:solidFill>
            <a:srgbClr val="FFFFFF"/>
          </a:solidFill>
          <a:ln w="12700">
            <a:solidFill>
              <a:srgbClr val="FFFFFF"/>
            </a:solidFill>
            <a:prstDash val="solid"/>
          </a:ln>
        </p:spPr>
      </p:sp>
      <p:sp>
        <p:nvSpPr>
          <p:cNvPr id="33" name="Text 31"/>
          <p:cNvSpPr txBox="1"/>
          <p:nvPr/>
        </p:nvSpPr>
        <p:spPr>
          <a:xfrm>
            <a:off x="4709160" y="3227832"/>
            <a:ext cx="3063240" cy="18288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PAYEE BANK ACCOUNT</a:t>
            </a:r>
            <a:endParaRPr lang="en-US" sz="900" dirty="0"/>
          </a:p>
        </p:txBody>
      </p:sp>
      <p:sp>
        <p:nvSpPr>
          <p:cNvPr id="34" name="Text 32"/>
          <p:cNvSpPr txBox="1"/>
          <p:nvPr/>
        </p:nvSpPr>
        <p:spPr>
          <a:xfrm>
            <a:off x="4709160" y="3383280"/>
            <a:ext cx="3063240" cy="228600"/>
          </a:xfrm>
          <a:prstGeom prst="rect">
            <a:avLst/>
          </a:prstGeom>
          <a:noFill/>
          <a:ln/>
        </p:spPr>
        <p:txBody>
          <a:bodyPr wrap="square" lIns="0" tIns="0" rIns="0" bIns="0" rtlCol="0" anchor="t"/>
          <a:lstStyle/>
          <a:p>
            <a:pPr indent="0" marL="0">
              <a:buNone/>
            </a:pPr>
            <a:r>
              <a:rPr lang="en-US" sz="1250" dirty="0">
                <a:solidFill>
                  <a:srgbClr val="111827"/>
                </a:solidFill>
                <a:latin typeface="Calibri" pitchFamily="34" charset="0"/>
                <a:ea typeface="Calibri" pitchFamily="34" charset="-122"/>
                <a:cs typeface="Calibri" pitchFamily="34" charset="-120"/>
              </a:rPr>
              <a:t>BARB032793 / …1089</a:t>
            </a:r>
            <a:endParaRPr lang="en-US" sz="1250" dirty="0"/>
          </a:p>
        </p:txBody>
      </p:sp>
      <p:sp>
        <p:nvSpPr>
          <p:cNvPr id="35" name="Shape 33"/>
          <p:cNvSpPr/>
          <p:nvPr/>
        </p:nvSpPr>
        <p:spPr>
          <a:xfrm>
            <a:off x="4599432" y="3694176"/>
            <a:ext cx="3282696" cy="457200"/>
          </a:xfrm>
          <a:prstGeom prst="roundRect">
            <a:avLst>
              <a:gd name="adj" fmla="val 16000"/>
            </a:avLst>
          </a:prstGeom>
          <a:solidFill>
            <a:srgbClr val="EEF4FF"/>
          </a:solidFill>
          <a:ln w="12700">
            <a:solidFill>
              <a:srgbClr val="BCD0FB"/>
            </a:solidFill>
            <a:prstDash val="solid"/>
          </a:ln>
        </p:spPr>
      </p:sp>
      <p:sp>
        <p:nvSpPr>
          <p:cNvPr id="36" name="Text 34"/>
          <p:cNvSpPr txBox="1"/>
          <p:nvPr/>
        </p:nvSpPr>
        <p:spPr>
          <a:xfrm>
            <a:off x="4709160" y="3739896"/>
            <a:ext cx="3063240" cy="18288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SURVEYOR</a:t>
            </a:r>
            <a:endParaRPr lang="en-US" sz="900" dirty="0"/>
          </a:p>
        </p:txBody>
      </p:sp>
      <p:sp>
        <p:nvSpPr>
          <p:cNvPr id="37" name="Text 35"/>
          <p:cNvSpPr txBox="1"/>
          <p:nvPr/>
        </p:nvSpPr>
        <p:spPr>
          <a:xfrm>
            <a:off x="4709160" y="3895344"/>
            <a:ext cx="3063240" cy="228600"/>
          </a:xfrm>
          <a:prstGeom prst="rect">
            <a:avLst/>
          </a:prstGeom>
          <a:noFill/>
          <a:ln/>
        </p:spPr>
        <p:txBody>
          <a:bodyPr wrap="square" lIns="0" tIns="0" rIns="0" bIns="0" rtlCol="0" anchor="t"/>
          <a:lstStyle/>
          <a:p>
            <a:pPr indent="0" marL="0">
              <a:buNone/>
            </a:pPr>
            <a:r>
              <a:rPr lang="en-US" sz="1250" dirty="0">
                <a:solidFill>
                  <a:srgbClr val="111827"/>
                </a:solidFill>
                <a:latin typeface="Calibri" pitchFamily="34" charset="0"/>
                <a:ea typeface="Calibri" pitchFamily="34" charset="-122"/>
                <a:cs typeface="Calibri" pitchFamily="34" charset="-120"/>
              </a:rPr>
              <a:t>K. Venkat Rao</a:t>
            </a:r>
            <a:endParaRPr lang="en-US" sz="1250" dirty="0"/>
          </a:p>
        </p:txBody>
      </p:sp>
      <p:sp>
        <p:nvSpPr>
          <p:cNvPr id="38" name="Shape 36"/>
          <p:cNvSpPr/>
          <p:nvPr/>
        </p:nvSpPr>
        <p:spPr>
          <a:xfrm>
            <a:off x="4599432" y="4206240"/>
            <a:ext cx="3282696" cy="457200"/>
          </a:xfrm>
          <a:prstGeom prst="roundRect">
            <a:avLst>
              <a:gd name="adj" fmla="val 16000"/>
            </a:avLst>
          </a:prstGeom>
          <a:solidFill>
            <a:srgbClr val="EEF4FF"/>
          </a:solidFill>
          <a:ln w="12700">
            <a:solidFill>
              <a:srgbClr val="BCD0FB"/>
            </a:solidFill>
            <a:prstDash val="solid"/>
          </a:ln>
        </p:spPr>
      </p:sp>
      <p:sp>
        <p:nvSpPr>
          <p:cNvPr id="39" name="Text 37"/>
          <p:cNvSpPr txBox="1"/>
          <p:nvPr/>
        </p:nvSpPr>
        <p:spPr>
          <a:xfrm>
            <a:off x="4709160" y="4251960"/>
            <a:ext cx="3063240" cy="18288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GARAGE</a:t>
            </a:r>
            <a:endParaRPr lang="en-US" sz="900" dirty="0"/>
          </a:p>
        </p:txBody>
      </p:sp>
      <p:sp>
        <p:nvSpPr>
          <p:cNvPr id="40" name="Text 38"/>
          <p:cNvSpPr txBox="1"/>
          <p:nvPr/>
        </p:nvSpPr>
        <p:spPr>
          <a:xfrm>
            <a:off x="4709160" y="4407408"/>
            <a:ext cx="3063240" cy="228600"/>
          </a:xfrm>
          <a:prstGeom prst="rect">
            <a:avLst/>
          </a:prstGeom>
          <a:noFill/>
          <a:ln/>
        </p:spPr>
        <p:txBody>
          <a:bodyPr wrap="square" lIns="0" tIns="0" rIns="0" bIns="0" rtlCol="0" anchor="t"/>
          <a:lstStyle/>
          <a:p>
            <a:pPr indent="0" marL="0">
              <a:buNone/>
            </a:pPr>
            <a:r>
              <a:rPr lang="en-US" sz="1250" dirty="0">
                <a:solidFill>
                  <a:srgbClr val="111827"/>
                </a:solidFill>
                <a:latin typeface="Calibri" pitchFamily="34" charset="0"/>
                <a:ea typeface="Calibri" pitchFamily="34" charset="-122"/>
                <a:cs typeface="Calibri" pitchFamily="34" charset="-120"/>
              </a:rPr>
              <a:t>Sri Balaji Auto Works</a:t>
            </a:r>
            <a:endParaRPr lang="en-US" sz="1250" dirty="0"/>
          </a:p>
        </p:txBody>
      </p:sp>
      <p:sp>
        <p:nvSpPr>
          <p:cNvPr id="41" name="Shape 39"/>
          <p:cNvSpPr/>
          <p:nvPr/>
        </p:nvSpPr>
        <p:spPr>
          <a:xfrm>
            <a:off x="4599432" y="4718304"/>
            <a:ext cx="3282696" cy="713232"/>
          </a:xfrm>
          <a:prstGeom prst="roundRect">
            <a:avLst>
              <a:gd name="adj" fmla="val 10256"/>
            </a:avLst>
          </a:prstGeom>
          <a:solidFill>
            <a:srgbClr val="F6F3FF"/>
          </a:solidFill>
          <a:ln w="12700">
            <a:solidFill>
              <a:srgbClr val="D9CCFF"/>
            </a:solidFill>
            <a:prstDash val="solid"/>
          </a:ln>
        </p:spPr>
      </p:sp>
      <p:sp>
        <p:nvSpPr>
          <p:cNvPr id="42" name="Text 40"/>
          <p:cNvSpPr txBox="1"/>
          <p:nvPr/>
        </p:nvSpPr>
        <p:spPr>
          <a:xfrm>
            <a:off x="4709160" y="4764024"/>
            <a:ext cx="3063240" cy="18288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THEIR STORY</a:t>
            </a:r>
            <a:endParaRPr lang="en-US" sz="900" dirty="0"/>
          </a:p>
        </p:txBody>
      </p:sp>
      <p:sp>
        <p:nvSpPr>
          <p:cNvPr id="43" name="Text 41"/>
          <p:cNvSpPr txBox="1"/>
          <p:nvPr/>
        </p:nvSpPr>
        <p:spPr>
          <a:xfrm>
            <a:off x="4709160" y="4919472"/>
            <a:ext cx="3063240" cy="484632"/>
          </a:xfrm>
          <a:prstGeom prst="rect">
            <a:avLst/>
          </a:prstGeom>
          <a:noFill/>
          <a:ln/>
        </p:spPr>
        <p:txBody>
          <a:bodyPr wrap="square" lIns="0" tIns="0" rIns="0" bIns="0" rtlCol="0" anchor="t"/>
          <a:lstStyle/>
          <a:p>
            <a:pPr indent="0" marL="0">
              <a:buNone/>
            </a:pPr>
            <a:r>
              <a:rPr lang="en-US" sz="1150" dirty="0">
                <a:solidFill>
                  <a:srgbClr val="111827"/>
                </a:solidFill>
                <a:latin typeface="Calibri" pitchFamily="34" charset="0"/>
                <a:ea typeface="Calibri" pitchFamily="34" charset="-122"/>
                <a:cs typeface="Calibri" pitchFamily="34" charset="-120"/>
              </a:rPr>
              <a:t>“Unknown vehicle hit my car from behind… and fled.”</a:t>
            </a:r>
            <a:endParaRPr lang="en-US" sz="1150" dirty="0"/>
          </a:p>
        </p:txBody>
      </p:sp>
      <p:sp>
        <p:nvSpPr>
          <p:cNvPr id="44" name="Shape 42"/>
          <p:cNvSpPr/>
          <p:nvPr/>
        </p:nvSpPr>
        <p:spPr>
          <a:xfrm>
            <a:off x="4599432" y="5550408"/>
            <a:ext cx="3282696" cy="384048"/>
          </a:xfrm>
          <a:prstGeom prst="roundRect">
            <a:avLst>
              <a:gd name="adj" fmla="val 19048"/>
            </a:avLst>
          </a:prstGeom>
          <a:solidFill>
            <a:srgbClr val="FDECEC"/>
          </a:solidFill>
          <a:ln w="12700">
            <a:solidFill>
              <a:srgbClr val="FDECEC"/>
            </a:solidFill>
            <a:prstDash val="solid"/>
          </a:ln>
        </p:spPr>
      </p:sp>
      <p:sp>
        <p:nvSpPr>
          <p:cNvPr id="45" name="Text 43"/>
          <p:cNvSpPr txBox="1"/>
          <p:nvPr/>
        </p:nvSpPr>
        <p:spPr>
          <a:xfrm>
            <a:off x="4709160" y="5550408"/>
            <a:ext cx="3063240" cy="384048"/>
          </a:xfrm>
          <a:prstGeom prst="rect">
            <a:avLst/>
          </a:prstGeom>
          <a:noFill/>
          <a:ln/>
        </p:spPr>
        <p:txBody>
          <a:bodyPr wrap="square" lIns="0" tIns="0" rIns="0" bIns="0" rtlCol="0" anchor="ctr"/>
          <a:lstStyle/>
          <a:p>
            <a:pPr indent="0" marL="0">
              <a:buNone/>
            </a:pPr>
            <a:r>
              <a:rPr lang="en-US" sz="1250" b="1" dirty="0">
                <a:solidFill>
                  <a:srgbClr val="B91C1C"/>
                </a:solidFill>
                <a:latin typeface="Calibri" pitchFamily="34" charset="0"/>
                <a:ea typeface="Calibri" pitchFamily="34" charset="-122"/>
                <a:cs typeface="Calibri" pitchFamily="34" charset="-120"/>
              </a:rPr>
              <a:t>Repudiated as fraud · 8 Sep</a:t>
            </a:r>
            <a:endParaRPr lang="en-US" sz="1250" dirty="0"/>
          </a:p>
        </p:txBody>
      </p:sp>
      <p:sp>
        <p:nvSpPr>
          <p:cNvPr id="46" name="Shape 44"/>
          <p:cNvSpPr/>
          <p:nvPr/>
        </p:nvSpPr>
        <p:spPr>
          <a:xfrm>
            <a:off x="8321040" y="1554480"/>
            <a:ext cx="3611880" cy="4526280"/>
          </a:xfrm>
          <a:prstGeom prst="roundRect">
            <a:avLst>
              <a:gd name="adj" fmla="val 3038"/>
            </a:avLst>
          </a:prstGeom>
          <a:solidFill>
            <a:srgbClr val="FFFFFF"/>
          </a:solidFill>
          <a:ln w="12700">
            <a:solidFill>
              <a:srgbClr val="C4B5FD"/>
            </a:solidFill>
            <a:prstDash val="solid"/>
          </a:ln>
          <a:effectLst>
            <a:outerShdw sx="100000" sy="100000" kx="0" ky="0" algn="bl" rotWithShape="0" blurRad="101600" dist="25400" dir="5400000">
              <a:srgbClr val="000000">
                <a:alpha val="12000"/>
              </a:srgbClr>
            </a:outerShdw>
          </a:effectLst>
        </p:spPr>
      </p:sp>
      <p:sp>
        <p:nvSpPr>
          <p:cNvPr id="47" name="Text 45"/>
          <p:cNvSpPr txBox="1"/>
          <p:nvPr/>
        </p:nvSpPr>
        <p:spPr>
          <a:xfrm>
            <a:off x="8549640" y="1719072"/>
            <a:ext cx="3154680" cy="274320"/>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#10595  </a:t>
            </a:r>
            <a:pPr indent="0" marL="0">
              <a:buNone/>
            </a:pPr>
            <a:r>
              <a:rPr lang="en-US" sz="1300" dirty="0">
                <a:solidFill>
                  <a:srgbClr val="6B7280"/>
                </a:solidFill>
                <a:latin typeface="Calibri" pitchFamily="34" charset="0"/>
                <a:ea typeface="Calibri" pitchFamily="34" charset="-122"/>
                <a:cs typeface="Calibri" pitchFamily="34" charset="-120"/>
              </a:rPr>
              <a:t>8 Sep</a:t>
            </a:r>
            <a:endParaRPr lang="en-US" sz="1300" dirty="0"/>
          </a:p>
        </p:txBody>
      </p:sp>
      <p:sp>
        <p:nvSpPr>
          <p:cNvPr id="48" name="Text 46"/>
          <p:cNvSpPr txBox="1"/>
          <p:nvPr/>
        </p:nvSpPr>
        <p:spPr>
          <a:xfrm>
            <a:off x="8549640" y="1993392"/>
            <a:ext cx="3154680" cy="365760"/>
          </a:xfrm>
          <a:prstGeom prst="rect">
            <a:avLst/>
          </a:prstGeom>
          <a:noFill/>
          <a:ln/>
        </p:spPr>
        <p:txBody>
          <a:bodyPr wrap="square" lIns="0" tIns="0" rIns="0" bIns="0" rtlCol="0" anchor="ctr"/>
          <a:lstStyle/>
          <a:p>
            <a:pPr indent="0" marL="0">
              <a:buNone/>
            </a:pPr>
            <a:r>
              <a:rPr lang="en-US" sz="1900" b="1" dirty="0">
                <a:solidFill>
                  <a:srgbClr val="111827"/>
                </a:solidFill>
                <a:latin typeface="Arial" pitchFamily="34" charset="0"/>
                <a:ea typeface="Arial" pitchFamily="34" charset="-122"/>
                <a:cs typeface="Arial" pitchFamily="34" charset="-120"/>
              </a:rPr>
              <a:t>Suresh Rathod</a:t>
            </a:r>
            <a:endParaRPr lang="en-US" sz="1900" dirty="0"/>
          </a:p>
        </p:txBody>
      </p:sp>
      <p:sp>
        <p:nvSpPr>
          <p:cNvPr id="49" name="Text 47"/>
          <p:cNvSpPr txBox="1"/>
          <p:nvPr/>
        </p:nvSpPr>
        <p:spPr>
          <a:xfrm>
            <a:off x="8549640" y="2359152"/>
            <a:ext cx="3154680" cy="256032"/>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Hyundai Creta · ₹82,400</a:t>
            </a:r>
            <a:endParaRPr lang="en-US" sz="1200" dirty="0"/>
          </a:p>
        </p:txBody>
      </p:sp>
      <p:sp>
        <p:nvSpPr>
          <p:cNvPr id="50" name="Shape 48"/>
          <p:cNvSpPr/>
          <p:nvPr/>
        </p:nvSpPr>
        <p:spPr>
          <a:xfrm>
            <a:off x="8485632" y="2670048"/>
            <a:ext cx="3282696" cy="457200"/>
          </a:xfrm>
          <a:prstGeom prst="roundRect">
            <a:avLst>
              <a:gd name="adj" fmla="val 16000"/>
            </a:avLst>
          </a:prstGeom>
          <a:solidFill>
            <a:srgbClr val="FDECEC"/>
          </a:solidFill>
          <a:ln w="12700">
            <a:solidFill>
              <a:srgbClr val="F3B0B0"/>
            </a:solidFill>
            <a:prstDash val="solid"/>
          </a:ln>
        </p:spPr>
      </p:sp>
      <p:sp>
        <p:nvSpPr>
          <p:cNvPr id="51" name="Text 49"/>
          <p:cNvSpPr txBox="1"/>
          <p:nvPr/>
        </p:nvSpPr>
        <p:spPr>
          <a:xfrm>
            <a:off x="8595360" y="2715768"/>
            <a:ext cx="3063240" cy="18288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PHONE</a:t>
            </a:r>
            <a:endParaRPr lang="en-US" sz="900" dirty="0"/>
          </a:p>
        </p:txBody>
      </p:sp>
      <p:sp>
        <p:nvSpPr>
          <p:cNvPr id="52" name="Text 50"/>
          <p:cNvSpPr txBox="1"/>
          <p:nvPr/>
        </p:nvSpPr>
        <p:spPr>
          <a:xfrm>
            <a:off x="8595360" y="2871216"/>
            <a:ext cx="3063240" cy="228600"/>
          </a:xfrm>
          <a:prstGeom prst="rect">
            <a:avLst/>
          </a:prstGeom>
          <a:noFill/>
          <a:ln/>
        </p:spPr>
        <p:txBody>
          <a:bodyPr wrap="square" lIns="0" tIns="0" rIns="0" bIns="0" rtlCol="0" anchor="t"/>
          <a:lstStyle/>
          <a:p>
            <a:pPr indent="0" marL="0">
              <a:buNone/>
            </a:pPr>
            <a:r>
              <a:rPr lang="en-US" sz="1250" dirty="0">
                <a:solidFill>
                  <a:srgbClr val="111827"/>
                </a:solidFill>
                <a:latin typeface="Calibri" pitchFamily="34" charset="0"/>
                <a:ea typeface="Calibri" pitchFamily="34" charset="-122"/>
                <a:cs typeface="Calibri" pitchFamily="34" charset="-120"/>
              </a:rPr>
              <a:t>+91 88197 21356</a:t>
            </a:r>
            <a:endParaRPr lang="en-US" sz="1250" dirty="0"/>
          </a:p>
        </p:txBody>
      </p:sp>
      <p:sp>
        <p:nvSpPr>
          <p:cNvPr id="53" name="Shape 51"/>
          <p:cNvSpPr/>
          <p:nvPr/>
        </p:nvSpPr>
        <p:spPr>
          <a:xfrm>
            <a:off x="8485632" y="3182112"/>
            <a:ext cx="3282696" cy="457200"/>
          </a:xfrm>
          <a:prstGeom prst="roundRect">
            <a:avLst>
              <a:gd name="adj" fmla="val 16000"/>
            </a:avLst>
          </a:prstGeom>
          <a:solidFill>
            <a:srgbClr val="FDECEC"/>
          </a:solidFill>
          <a:ln w="12700">
            <a:solidFill>
              <a:srgbClr val="F3B0B0"/>
            </a:solidFill>
            <a:prstDash val="solid"/>
          </a:ln>
        </p:spPr>
      </p:sp>
      <p:sp>
        <p:nvSpPr>
          <p:cNvPr id="54" name="Text 52"/>
          <p:cNvSpPr txBox="1"/>
          <p:nvPr/>
        </p:nvSpPr>
        <p:spPr>
          <a:xfrm>
            <a:off x="8595360" y="3227832"/>
            <a:ext cx="3063240" cy="18288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PAYEE BANK ACCOUNT</a:t>
            </a:r>
            <a:endParaRPr lang="en-US" sz="900" dirty="0"/>
          </a:p>
        </p:txBody>
      </p:sp>
      <p:sp>
        <p:nvSpPr>
          <p:cNvPr id="55" name="Text 53"/>
          <p:cNvSpPr txBox="1"/>
          <p:nvPr/>
        </p:nvSpPr>
        <p:spPr>
          <a:xfrm>
            <a:off x="8595360" y="3383280"/>
            <a:ext cx="3063240" cy="228600"/>
          </a:xfrm>
          <a:prstGeom prst="rect">
            <a:avLst/>
          </a:prstGeom>
          <a:noFill/>
          <a:ln/>
        </p:spPr>
        <p:txBody>
          <a:bodyPr wrap="square" lIns="0" tIns="0" rIns="0" bIns="0" rtlCol="0" anchor="t"/>
          <a:lstStyle/>
          <a:p>
            <a:pPr indent="0" marL="0">
              <a:buNone/>
            </a:pPr>
            <a:r>
              <a:rPr lang="en-US" sz="1250" dirty="0">
                <a:solidFill>
                  <a:srgbClr val="111827"/>
                </a:solidFill>
                <a:latin typeface="Calibri" pitchFamily="34" charset="0"/>
                <a:ea typeface="Calibri" pitchFamily="34" charset="-122"/>
                <a:cs typeface="Calibri" pitchFamily="34" charset="-120"/>
              </a:rPr>
              <a:t>UBIN078058 / …5762</a:t>
            </a:r>
            <a:endParaRPr lang="en-US" sz="1250" dirty="0"/>
          </a:p>
        </p:txBody>
      </p:sp>
      <p:sp>
        <p:nvSpPr>
          <p:cNvPr id="56" name="Shape 54"/>
          <p:cNvSpPr/>
          <p:nvPr/>
        </p:nvSpPr>
        <p:spPr>
          <a:xfrm>
            <a:off x="8485632" y="3694176"/>
            <a:ext cx="3282696" cy="457200"/>
          </a:xfrm>
          <a:prstGeom prst="roundRect">
            <a:avLst>
              <a:gd name="adj" fmla="val 16000"/>
            </a:avLst>
          </a:prstGeom>
          <a:solidFill>
            <a:srgbClr val="EEF4FF"/>
          </a:solidFill>
          <a:ln w="12700">
            <a:solidFill>
              <a:srgbClr val="BCD0FB"/>
            </a:solidFill>
            <a:prstDash val="solid"/>
          </a:ln>
        </p:spPr>
      </p:sp>
      <p:sp>
        <p:nvSpPr>
          <p:cNvPr id="57" name="Text 55"/>
          <p:cNvSpPr txBox="1"/>
          <p:nvPr/>
        </p:nvSpPr>
        <p:spPr>
          <a:xfrm>
            <a:off x="8595360" y="3739896"/>
            <a:ext cx="3063240" cy="18288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SURVEYOR</a:t>
            </a:r>
            <a:endParaRPr lang="en-US" sz="900" dirty="0"/>
          </a:p>
        </p:txBody>
      </p:sp>
      <p:sp>
        <p:nvSpPr>
          <p:cNvPr id="58" name="Text 56"/>
          <p:cNvSpPr txBox="1"/>
          <p:nvPr/>
        </p:nvSpPr>
        <p:spPr>
          <a:xfrm>
            <a:off x="8595360" y="3895344"/>
            <a:ext cx="3063240" cy="228600"/>
          </a:xfrm>
          <a:prstGeom prst="rect">
            <a:avLst/>
          </a:prstGeom>
          <a:noFill/>
          <a:ln/>
        </p:spPr>
        <p:txBody>
          <a:bodyPr wrap="square" lIns="0" tIns="0" rIns="0" bIns="0" rtlCol="0" anchor="t"/>
          <a:lstStyle/>
          <a:p>
            <a:pPr indent="0" marL="0">
              <a:buNone/>
            </a:pPr>
            <a:r>
              <a:rPr lang="en-US" sz="1250" dirty="0">
                <a:solidFill>
                  <a:srgbClr val="111827"/>
                </a:solidFill>
                <a:latin typeface="Calibri" pitchFamily="34" charset="0"/>
                <a:ea typeface="Calibri" pitchFamily="34" charset="-122"/>
                <a:cs typeface="Calibri" pitchFamily="34" charset="-120"/>
              </a:rPr>
              <a:t>K. Venkat Rao</a:t>
            </a:r>
            <a:endParaRPr lang="en-US" sz="1250" dirty="0"/>
          </a:p>
        </p:txBody>
      </p:sp>
      <p:sp>
        <p:nvSpPr>
          <p:cNvPr id="59" name="Shape 57"/>
          <p:cNvSpPr/>
          <p:nvPr/>
        </p:nvSpPr>
        <p:spPr>
          <a:xfrm>
            <a:off x="8485632" y="4206240"/>
            <a:ext cx="3282696" cy="457200"/>
          </a:xfrm>
          <a:prstGeom prst="roundRect">
            <a:avLst>
              <a:gd name="adj" fmla="val 16000"/>
            </a:avLst>
          </a:prstGeom>
          <a:solidFill>
            <a:srgbClr val="EEF4FF"/>
          </a:solidFill>
          <a:ln w="12700">
            <a:solidFill>
              <a:srgbClr val="BCD0FB"/>
            </a:solidFill>
            <a:prstDash val="solid"/>
          </a:ln>
        </p:spPr>
      </p:sp>
      <p:sp>
        <p:nvSpPr>
          <p:cNvPr id="60" name="Text 58"/>
          <p:cNvSpPr txBox="1"/>
          <p:nvPr/>
        </p:nvSpPr>
        <p:spPr>
          <a:xfrm>
            <a:off x="8595360" y="4251960"/>
            <a:ext cx="3063240" cy="18288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GARAGE</a:t>
            </a:r>
            <a:endParaRPr lang="en-US" sz="900" dirty="0"/>
          </a:p>
        </p:txBody>
      </p:sp>
      <p:sp>
        <p:nvSpPr>
          <p:cNvPr id="61" name="Text 59"/>
          <p:cNvSpPr txBox="1"/>
          <p:nvPr/>
        </p:nvSpPr>
        <p:spPr>
          <a:xfrm>
            <a:off x="8595360" y="4407408"/>
            <a:ext cx="3063240" cy="228600"/>
          </a:xfrm>
          <a:prstGeom prst="rect">
            <a:avLst/>
          </a:prstGeom>
          <a:noFill/>
          <a:ln/>
        </p:spPr>
        <p:txBody>
          <a:bodyPr wrap="square" lIns="0" tIns="0" rIns="0" bIns="0" rtlCol="0" anchor="t"/>
          <a:lstStyle/>
          <a:p>
            <a:pPr indent="0" marL="0">
              <a:buNone/>
            </a:pPr>
            <a:r>
              <a:rPr lang="en-US" sz="1250" dirty="0">
                <a:solidFill>
                  <a:srgbClr val="111827"/>
                </a:solidFill>
                <a:latin typeface="Calibri" pitchFamily="34" charset="0"/>
                <a:ea typeface="Calibri" pitchFamily="34" charset="-122"/>
                <a:cs typeface="Calibri" pitchFamily="34" charset="-120"/>
              </a:rPr>
              <a:t>Sri Balaji Auto Works</a:t>
            </a:r>
            <a:endParaRPr lang="en-US" sz="1250" dirty="0"/>
          </a:p>
        </p:txBody>
      </p:sp>
      <p:sp>
        <p:nvSpPr>
          <p:cNvPr id="62" name="Shape 60"/>
          <p:cNvSpPr/>
          <p:nvPr/>
        </p:nvSpPr>
        <p:spPr>
          <a:xfrm>
            <a:off x="8485632" y="4718304"/>
            <a:ext cx="3282696" cy="713232"/>
          </a:xfrm>
          <a:prstGeom prst="roundRect">
            <a:avLst>
              <a:gd name="adj" fmla="val 10256"/>
            </a:avLst>
          </a:prstGeom>
          <a:solidFill>
            <a:srgbClr val="F6F3FF"/>
          </a:solidFill>
          <a:ln w="12700">
            <a:solidFill>
              <a:srgbClr val="D9CCFF"/>
            </a:solidFill>
            <a:prstDash val="solid"/>
          </a:ln>
        </p:spPr>
      </p:sp>
      <p:sp>
        <p:nvSpPr>
          <p:cNvPr id="63" name="Text 61"/>
          <p:cNvSpPr txBox="1"/>
          <p:nvPr/>
        </p:nvSpPr>
        <p:spPr>
          <a:xfrm>
            <a:off x="8595360" y="4764024"/>
            <a:ext cx="3063240" cy="18288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THEIR STORY</a:t>
            </a:r>
            <a:endParaRPr lang="en-US" sz="900" dirty="0"/>
          </a:p>
        </p:txBody>
      </p:sp>
      <p:sp>
        <p:nvSpPr>
          <p:cNvPr id="64" name="Text 62"/>
          <p:cNvSpPr txBox="1"/>
          <p:nvPr/>
        </p:nvSpPr>
        <p:spPr>
          <a:xfrm>
            <a:off x="8595360" y="4919472"/>
            <a:ext cx="3063240" cy="484632"/>
          </a:xfrm>
          <a:prstGeom prst="rect">
            <a:avLst/>
          </a:prstGeom>
          <a:noFill/>
          <a:ln/>
        </p:spPr>
        <p:txBody>
          <a:bodyPr wrap="square" lIns="0" tIns="0" rIns="0" bIns="0" rtlCol="0" anchor="t"/>
          <a:lstStyle/>
          <a:p>
            <a:pPr indent="0" marL="0">
              <a:buNone/>
            </a:pPr>
            <a:r>
              <a:rPr lang="en-US" sz="1150" dirty="0">
                <a:solidFill>
                  <a:srgbClr val="111827"/>
                </a:solidFill>
                <a:latin typeface="Calibri" pitchFamily="34" charset="0"/>
                <a:ea typeface="Calibri" pitchFamily="34" charset="-122"/>
                <a:cs typeface="Calibri" pitchFamily="34" charset="-120"/>
              </a:rPr>
              <a:t>“…unknown vehicle hit from behind and fled the spot.”</a:t>
            </a:r>
            <a:endParaRPr lang="en-US" sz="1150" dirty="0"/>
          </a:p>
        </p:txBody>
      </p:sp>
      <p:sp>
        <p:nvSpPr>
          <p:cNvPr id="65" name="Shape 63"/>
          <p:cNvSpPr/>
          <p:nvPr/>
        </p:nvSpPr>
        <p:spPr>
          <a:xfrm>
            <a:off x="8485632" y="5550408"/>
            <a:ext cx="3282696" cy="384048"/>
          </a:xfrm>
          <a:prstGeom prst="roundRect">
            <a:avLst>
              <a:gd name="adj" fmla="val 19048"/>
            </a:avLst>
          </a:prstGeom>
          <a:solidFill>
            <a:srgbClr val="EDE9FE"/>
          </a:solidFill>
          <a:ln w="12700">
            <a:solidFill>
              <a:srgbClr val="EDE9FE"/>
            </a:solidFill>
            <a:prstDash val="solid"/>
          </a:ln>
        </p:spPr>
      </p:sp>
      <p:sp>
        <p:nvSpPr>
          <p:cNvPr id="66" name="Text 64"/>
          <p:cNvSpPr txBox="1"/>
          <p:nvPr/>
        </p:nvSpPr>
        <p:spPr>
          <a:xfrm>
            <a:off x="8595360" y="5550408"/>
            <a:ext cx="3063240" cy="384048"/>
          </a:xfrm>
          <a:prstGeom prst="rect">
            <a:avLst/>
          </a:prstGeom>
          <a:noFill/>
          <a:ln/>
        </p:spPr>
        <p:txBody>
          <a:bodyPr wrap="square" lIns="0" tIns="0" rIns="0" bIns="0" rtlCol="0" anchor="ctr"/>
          <a:lstStyle/>
          <a:p>
            <a:pPr indent="0" marL="0">
              <a:buNone/>
            </a:pPr>
            <a:r>
              <a:rPr lang="en-US" sz="1250" b="1" dirty="0">
                <a:solidFill>
                  <a:srgbClr val="6D28D9"/>
                </a:solidFill>
                <a:latin typeface="Calibri" pitchFamily="34" charset="0"/>
                <a:ea typeface="Calibri" pitchFamily="34" charset="-122"/>
                <a:cs typeface="Calibri" pitchFamily="34" charset="-120"/>
              </a:rPr>
              <a:t>New today · stateless AI: 15/100, fast-track</a:t>
            </a:r>
            <a:endParaRPr lang="en-US" sz="1250" dirty="0"/>
          </a:p>
        </p:txBody>
      </p:sp>
      <p:sp>
        <p:nvSpPr>
          <p:cNvPr id="67" name="Text 65"/>
          <p:cNvSpPr txBox="1"/>
          <p:nvPr/>
        </p:nvSpPr>
        <p:spPr>
          <a:xfrm>
            <a:off x="548640" y="6263640"/>
            <a:ext cx="11155680" cy="365760"/>
          </a:xfrm>
          <a:prstGeom prst="rect">
            <a:avLst/>
          </a:prstGeom>
          <a:noFill/>
          <a:ln/>
        </p:spPr>
        <p:txBody>
          <a:bodyPr wrap="square" lIns="0" tIns="0" rIns="0" bIns="0" rtlCol="0" anchor="ctr"/>
          <a:lstStyle/>
          <a:p>
            <a:pPr indent="0" marL="0">
              <a:buNone/>
            </a:pPr>
            <a:r>
              <a:rPr lang="en-US" sz="1400" b="1" dirty="0">
                <a:solidFill>
                  <a:srgbClr val="B91C1C"/>
                </a:solidFill>
                <a:latin typeface="Calibri" pitchFamily="34" charset="0"/>
                <a:ea typeface="Calibri" pitchFamily="34" charset="-122"/>
                <a:cs typeface="Calibri" pitchFamily="34" charset="-120"/>
              </a:rPr>
              <a:t>Red</a:t>
            </a:r>
            <a:pPr indent="0" marL="0">
              <a:buNone/>
            </a:pPr>
            <a:r>
              <a:rPr lang="en-US" sz="1400" dirty="0">
                <a:solidFill>
                  <a:srgbClr val="374151"/>
                </a:solidFill>
                <a:latin typeface="Calibri" pitchFamily="34" charset="0"/>
                <a:ea typeface="Calibri" pitchFamily="34" charset="-122"/>
                <a:cs typeface="Calibri" pitchFamily="34" charset="-120"/>
              </a:rPr>
              <a:t> = the same phone or bank account on different claimants.  </a:t>
            </a:r>
            <a:pPr indent="0" marL="0">
              <a:buNone/>
            </a:pPr>
            <a:r>
              <a:rPr lang="en-US" sz="1400" b="1" dirty="0">
                <a:solidFill>
                  <a:srgbClr val="1D4ED8"/>
                </a:solidFill>
                <a:latin typeface="Calibri" pitchFamily="34" charset="0"/>
                <a:ea typeface="Calibri" pitchFamily="34" charset="-122"/>
                <a:cs typeface="Calibri" pitchFamily="34" charset="-120"/>
              </a:rPr>
              <a:t>Blue</a:t>
            </a:r>
            <a:pPr indent="0" marL="0">
              <a:buNone/>
            </a:pPr>
            <a:r>
              <a:rPr lang="en-US" sz="1400" dirty="0">
                <a:solidFill>
                  <a:srgbClr val="374151"/>
                </a:solidFill>
                <a:latin typeface="Calibri" pitchFamily="34" charset="0"/>
                <a:ea typeface="Calibri" pitchFamily="34" charset="-122"/>
                <a:cs typeface="Calibri" pitchFamily="34" charset="-120"/>
              </a:rPr>
              <a:t> = the same surveyor and garage.  None of it is in Suresh's claim. It's in the history.</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82880"/>
            <a:ext cx="7315200" cy="274320"/>
          </a:xfrm>
          <a:prstGeom prst="rect">
            <a:avLst/>
          </a:prstGeom>
          <a:noFill/>
          <a:ln/>
        </p:spPr>
        <p:txBody>
          <a:bodyPr wrap="square" lIns="0" tIns="0" rIns="0" bIns="0" rtlCol="0" anchor="ctr"/>
          <a:lstStyle/>
          <a:p>
            <a:pPr indent="0" marL="0">
              <a:buNone/>
            </a:pPr>
            <a:r>
              <a:rPr lang="en-US" sz="1100" b="1" spc="300" kern="0" dirty="0">
                <a:solidFill>
                  <a:srgbClr val="6D28D9"/>
                </a:solidFill>
                <a:latin typeface="Arial" pitchFamily="34" charset="0"/>
                <a:ea typeface="Arial" pitchFamily="34" charset="-122"/>
                <a:cs typeface="Arial" pitchFamily="34" charset="-120"/>
              </a:rPr>
              <a:t>WHY IT MATTERS</a:t>
            </a:r>
            <a:endParaRPr lang="en-US" sz="1100" dirty="0"/>
          </a:p>
        </p:txBody>
      </p:sp>
      <p:sp>
        <p:nvSpPr>
          <p:cNvPr id="3" name="Text 1"/>
          <p:cNvSpPr txBox="1"/>
          <p:nvPr/>
        </p:nvSpPr>
        <p:spPr>
          <a:xfrm>
            <a:off x="548640" y="411480"/>
            <a:ext cx="11094415" cy="731520"/>
          </a:xfrm>
          <a:prstGeom prst="rect">
            <a:avLst/>
          </a:prstGeom>
          <a:noFill/>
          <a:ln/>
        </p:spPr>
        <p:txBody>
          <a:bodyPr wrap="square" lIns="0" tIns="0" rIns="0" bIns="0" rtlCol="0" anchor="t"/>
          <a:lstStyle/>
          <a:p>
            <a:pPr indent="0" marL="0">
              <a:buNone/>
            </a:pPr>
            <a:r>
              <a:rPr lang="en-US" sz="3000" b="1" dirty="0">
                <a:solidFill>
                  <a:srgbClr val="111827"/>
                </a:solidFill>
                <a:latin typeface="Arial" pitchFamily="34" charset="0"/>
                <a:ea typeface="Arial" pitchFamily="34" charset="-122"/>
                <a:cs typeface="Arial" pitchFamily="34" charset="-120"/>
              </a:rPr>
              <a:t>Fraud is a ₹10,000-crore problem, and now a compliance one</a:t>
            </a:r>
            <a:endParaRPr lang="en-US" sz="3000" dirty="0"/>
          </a:p>
        </p:txBody>
      </p:sp>
      <p:sp>
        <p:nvSpPr>
          <p:cNvPr id="4" name="Shape 2"/>
          <p:cNvSpPr/>
          <p:nvPr/>
        </p:nvSpPr>
        <p:spPr>
          <a:xfrm>
            <a:off x="548640" y="1554480"/>
            <a:ext cx="3520440" cy="4023360"/>
          </a:xfrm>
          <a:prstGeom prst="roundRect">
            <a:avLst>
              <a:gd name="adj" fmla="val 3117"/>
            </a:avLst>
          </a:prstGeom>
          <a:solidFill>
            <a:srgbClr val="F7F7FB"/>
          </a:solidFill>
          <a:ln w="12700">
            <a:solidFill>
              <a:srgbClr val="E5E7EB"/>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822960" y="1874520"/>
            <a:ext cx="731520" cy="731520"/>
          </a:xfrm>
          <a:prstGeom prst="ellipse">
            <a:avLst/>
          </a:prstGeom>
          <a:solidFill>
            <a:srgbClr val="EDE9FE"/>
          </a:solidFill>
          <a:ln w="12700">
            <a:solidFill>
              <a:srgbClr val="EDE9FE"/>
            </a:solidFill>
            <a:prstDash val="solid"/>
          </a:ln>
        </p:spPr>
      </p:sp>
      <p:pic>
        <p:nvPicPr>
          <p:cNvPr id="6" name="Image 0" descr="preencoded.png">    </p:cNvPr>
          <p:cNvPicPr>
            <a:picLocks noChangeAspect="1"/>
          </p:cNvPicPr>
          <p:nvPr/>
        </p:nvPicPr>
        <p:blipFill>
          <a:blip r:embed="rId1"/>
          <a:stretch>
            <a:fillRect/>
          </a:stretch>
        </p:blipFill>
        <p:spPr>
          <a:xfrm>
            <a:off x="1005840" y="2057400"/>
            <a:ext cx="365760" cy="365760"/>
          </a:xfrm>
          <a:prstGeom prst="rect">
            <a:avLst/>
          </a:prstGeom>
        </p:spPr>
      </p:pic>
      <p:sp>
        <p:nvSpPr>
          <p:cNvPr id="7" name="Text 4"/>
          <p:cNvSpPr txBox="1"/>
          <p:nvPr/>
        </p:nvSpPr>
        <p:spPr>
          <a:xfrm>
            <a:off x="822960" y="2788920"/>
            <a:ext cx="3108960" cy="731520"/>
          </a:xfrm>
          <a:prstGeom prst="rect">
            <a:avLst/>
          </a:prstGeom>
          <a:noFill/>
          <a:ln/>
        </p:spPr>
        <p:txBody>
          <a:bodyPr wrap="square" lIns="0" tIns="0" rIns="0" bIns="0" rtlCol="0" anchor="ctr"/>
          <a:lstStyle/>
          <a:p>
            <a:pPr indent="0" marL="0">
              <a:buNone/>
            </a:pPr>
            <a:r>
              <a:rPr lang="en-US" sz="2700" b="1" dirty="0">
                <a:solidFill>
                  <a:srgbClr val="1E1B4B"/>
                </a:solidFill>
                <a:latin typeface="Arial" pitchFamily="34" charset="0"/>
                <a:ea typeface="Arial" pitchFamily="34" charset="-122"/>
                <a:cs typeface="Arial" pitchFamily="34" charset="-120"/>
              </a:rPr>
              <a:t>₹8,000–10,000 cr</a:t>
            </a:r>
            <a:endParaRPr lang="en-US" sz="2700" dirty="0"/>
          </a:p>
        </p:txBody>
      </p:sp>
      <p:sp>
        <p:nvSpPr>
          <p:cNvPr id="8" name="Text 5"/>
          <p:cNvSpPr txBox="1"/>
          <p:nvPr/>
        </p:nvSpPr>
        <p:spPr>
          <a:xfrm>
            <a:off x="822960" y="3566160"/>
            <a:ext cx="3017520" cy="1417320"/>
          </a:xfrm>
          <a:prstGeom prst="rect">
            <a:avLst/>
          </a:prstGeom>
          <a:noFill/>
          <a:ln/>
        </p:spPr>
        <p:txBody>
          <a:bodyPr wrap="square" lIns="0" tIns="0" rIns="0" bIns="0" rtlCol="0" anchor="t"/>
          <a:lstStyle/>
          <a:p>
            <a:pPr indent="0" marL="0">
              <a:buNone/>
            </a:pPr>
            <a:r>
              <a:rPr lang="en-US" sz="1500" dirty="0">
                <a:solidFill>
                  <a:srgbClr val="374151"/>
                </a:solidFill>
                <a:latin typeface="Calibri" pitchFamily="34" charset="0"/>
                <a:ea typeface="Calibri" pitchFamily="34" charset="-122"/>
                <a:cs typeface="Calibri" pitchFamily="34" charset="-120"/>
              </a:rPr>
              <a:t>lost by Indian insurers every year to fraud, waste and abuse</a:t>
            </a:r>
            <a:endParaRPr lang="en-US" sz="1500" dirty="0"/>
          </a:p>
        </p:txBody>
      </p:sp>
      <p:sp>
        <p:nvSpPr>
          <p:cNvPr id="9" name="Text 6"/>
          <p:cNvSpPr txBox="1"/>
          <p:nvPr/>
        </p:nvSpPr>
        <p:spPr>
          <a:xfrm>
            <a:off x="822960" y="5029200"/>
            <a:ext cx="3017520" cy="41148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BCG × Medi Assist, Nov 2025</a:t>
            </a:r>
            <a:endParaRPr lang="en-US" sz="1050" dirty="0"/>
          </a:p>
        </p:txBody>
      </p:sp>
      <p:sp>
        <p:nvSpPr>
          <p:cNvPr id="10" name="Shape 7"/>
          <p:cNvSpPr/>
          <p:nvPr/>
        </p:nvSpPr>
        <p:spPr>
          <a:xfrm>
            <a:off x="4297680" y="1554480"/>
            <a:ext cx="3520440" cy="4023360"/>
          </a:xfrm>
          <a:prstGeom prst="roundRect">
            <a:avLst>
              <a:gd name="adj" fmla="val 3117"/>
            </a:avLst>
          </a:prstGeom>
          <a:solidFill>
            <a:srgbClr val="F7F7FB"/>
          </a:solidFill>
          <a:ln w="12700">
            <a:solidFill>
              <a:srgbClr val="E5E7EB"/>
            </a:solidFill>
            <a:prstDash val="solid"/>
          </a:ln>
          <a:effectLst>
            <a:outerShdw sx="100000" sy="100000" kx="0" ky="0" algn="bl" rotWithShape="0" blurRad="101600" dist="25400" dir="5400000">
              <a:srgbClr val="000000">
                <a:alpha val="12000"/>
              </a:srgbClr>
            </a:outerShdw>
          </a:effectLst>
        </p:spPr>
      </p:sp>
      <p:sp>
        <p:nvSpPr>
          <p:cNvPr id="11" name="Shape 8"/>
          <p:cNvSpPr/>
          <p:nvPr/>
        </p:nvSpPr>
        <p:spPr>
          <a:xfrm>
            <a:off x="4572000" y="1874520"/>
            <a:ext cx="731520" cy="731520"/>
          </a:xfrm>
          <a:prstGeom prst="ellipse">
            <a:avLst/>
          </a:prstGeom>
          <a:solidFill>
            <a:srgbClr val="EDE9FE"/>
          </a:solidFill>
          <a:ln w="12700">
            <a:solidFill>
              <a:srgbClr val="EDE9FE"/>
            </a:solidFill>
            <a:prstDash val="solid"/>
          </a:ln>
        </p:spPr>
      </p:sp>
      <p:pic>
        <p:nvPicPr>
          <p:cNvPr id="12" name="Image 1" descr="preencoded.png">    </p:cNvPr>
          <p:cNvPicPr>
            <a:picLocks noChangeAspect="1"/>
          </p:cNvPicPr>
          <p:nvPr/>
        </p:nvPicPr>
        <p:blipFill>
          <a:blip r:embed="rId2"/>
          <a:stretch>
            <a:fillRect/>
          </a:stretch>
        </p:blipFill>
        <p:spPr>
          <a:xfrm>
            <a:off x="4754880" y="2057400"/>
            <a:ext cx="365760" cy="365760"/>
          </a:xfrm>
          <a:prstGeom prst="rect">
            <a:avLst/>
          </a:prstGeom>
        </p:spPr>
      </p:pic>
      <p:sp>
        <p:nvSpPr>
          <p:cNvPr id="13" name="Text 9"/>
          <p:cNvSpPr txBox="1"/>
          <p:nvPr/>
        </p:nvSpPr>
        <p:spPr>
          <a:xfrm>
            <a:off x="4572000" y="2788920"/>
            <a:ext cx="3108960" cy="731520"/>
          </a:xfrm>
          <a:prstGeom prst="rect">
            <a:avLst/>
          </a:prstGeom>
          <a:noFill/>
          <a:ln/>
        </p:spPr>
        <p:txBody>
          <a:bodyPr wrap="square" lIns="0" tIns="0" rIns="0" bIns="0" rtlCol="0" anchor="ctr"/>
          <a:lstStyle/>
          <a:p>
            <a:pPr indent="0" marL="0">
              <a:buNone/>
            </a:pPr>
            <a:r>
              <a:rPr lang="en-US" sz="2700" b="1" dirty="0">
                <a:solidFill>
                  <a:srgbClr val="1E1B4B"/>
                </a:solidFill>
                <a:latin typeface="Arial" pitchFamily="34" charset="0"/>
                <a:ea typeface="Arial" pitchFamily="34" charset="-122"/>
                <a:cs typeface="Arial" pitchFamily="34" charset="-120"/>
              </a:rPr>
              <a:t>8–10%</a:t>
            </a:r>
            <a:endParaRPr lang="en-US" sz="2700" dirty="0"/>
          </a:p>
        </p:txBody>
      </p:sp>
      <p:sp>
        <p:nvSpPr>
          <p:cNvPr id="14" name="Text 10"/>
          <p:cNvSpPr txBox="1"/>
          <p:nvPr/>
        </p:nvSpPr>
        <p:spPr>
          <a:xfrm>
            <a:off x="4572000" y="3566160"/>
            <a:ext cx="3017520" cy="1417320"/>
          </a:xfrm>
          <a:prstGeom prst="rect">
            <a:avLst/>
          </a:prstGeom>
          <a:noFill/>
          <a:ln/>
        </p:spPr>
        <p:txBody>
          <a:bodyPr wrap="square" lIns="0" tIns="0" rIns="0" bIns="0" rtlCol="0" anchor="t"/>
          <a:lstStyle/>
          <a:p>
            <a:pPr indent="0" marL="0">
              <a:buNone/>
            </a:pPr>
            <a:r>
              <a:rPr lang="en-US" sz="1500" dirty="0">
                <a:solidFill>
                  <a:srgbClr val="374151"/>
                </a:solidFill>
                <a:latin typeface="Calibri" pitchFamily="34" charset="0"/>
                <a:ea typeface="Calibri" pitchFamily="34" charset="-122"/>
                <a:cs typeface="Calibri" pitchFamily="34" charset="-120"/>
              </a:rPr>
              <a:t>of all claim payouts leak to fraud, waste and abuse; mid-ticket claims of ₹50k–2.5 lakh are hit hardest</a:t>
            </a:r>
            <a:endParaRPr lang="en-US" sz="1500" dirty="0"/>
          </a:p>
        </p:txBody>
      </p:sp>
      <p:sp>
        <p:nvSpPr>
          <p:cNvPr id="15" name="Text 11"/>
          <p:cNvSpPr txBox="1"/>
          <p:nvPr/>
        </p:nvSpPr>
        <p:spPr>
          <a:xfrm>
            <a:off x="4572000" y="5029200"/>
            <a:ext cx="3017520" cy="41148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BCG × Medi Assist, Nov 2025</a:t>
            </a:r>
            <a:endParaRPr lang="en-US" sz="1050" dirty="0"/>
          </a:p>
        </p:txBody>
      </p:sp>
      <p:sp>
        <p:nvSpPr>
          <p:cNvPr id="16" name="Shape 12"/>
          <p:cNvSpPr/>
          <p:nvPr/>
        </p:nvSpPr>
        <p:spPr>
          <a:xfrm>
            <a:off x="8046720" y="1554480"/>
            <a:ext cx="3520440" cy="4023360"/>
          </a:xfrm>
          <a:prstGeom prst="roundRect">
            <a:avLst>
              <a:gd name="adj" fmla="val 3117"/>
            </a:avLst>
          </a:prstGeom>
          <a:solidFill>
            <a:srgbClr val="F7F7FB"/>
          </a:solidFill>
          <a:ln w="12700">
            <a:solidFill>
              <a:srgbClr val="E5E7EB"/>
            </a:solidFill>
            <a:prstDash val="solid"/>
          </a:ln>
          <a:effectLst>
            <a:outerShdw sx="100000" sy="100000" kx="0" ky="0" algn="bl" rotWithShape="0" blurRad="101600" dist="25400" dir="5400000">
              <a:srgbClr val="000000">
                <a:alpha val="12000"/>
              </a:srgbClr>
            </a:outerShdw>
          </a:effectLst>
        </p:spPr>
      </p:sp>
      <p:sp>
        <p:nvSpPr>
          <p:cNvPr id="17" name="Shape 13"/>
          <p:cNvSpPr/>
          <p:nvPr/>
        </p:nvSpPr>
        <p:spPr>
          <a:xfrm>
            <a:off x="8321040" y="1874520"/>
            <a:ext cx="731520" cy="731520"/>
          </a:xfrm>
          <a:prstGeom prst="ellipse">
            <a:avLst/>
          </a:prstGeom>
          <a:solidFill>
            <a:srgbClr val="EDE9FE"/>
          </a:solidFill>
          <a:ln w="12700">
            <a:solidFill>
              <a:srgbClr val="EDE9FE"/>
            </a:solidFill>
            <a:prstDash val="solid"/>
          </a:ln>
        </p:spPr>
      </p:sp>
      <p:pic>
        <p:nvPicPr>
          <p:cNvPr id="18" name="Image 2" descr="preencoded.png">    </p:cNvPr>
          <p:cNvPicPr>
            <a:picLocks noChangeAspect="1"/>
          </p:cNvPicPr>
          <p:nvPr/>
        </p:nvPicPr>
        <p:blipFill>
          <a:blip r:embed="rId3"/>
          <a:stretch>
            <a:fillRect/>
          </a:stretch>
        </p:blipFill>
        <p:spPr>
          <a:xfrm>
            <a:off x="8503920" y="2057400"/>
            <a:ext cx="365760" cy="365760"/>
          </a:xfrm>
          <a:prstGeom prst="rect">
            <a:avLst/>
          </a:prstGeom>
        </p:spPr>
      </p:pic>
      <p:sp>
        <p:nvSpPr>
          <p:cNvPr id="19" name="Text 14"/>
          <p:cNvSpPr txBox="1"/>
          <p:nvPr/>
        </p:nvSpPr>
        <p:spPr>
          <a:xfrm>
            <a:off x="8321040" y="2788920"/>
            <a:ext cx="3108960" cy="731520"/>
          </a:xfrm>
          <a:prstGeom prst="rect">
            <a:avLst/>
          </a:prstGeom>
          <a:noFill/>
          <a:ln/>
        </p:spPr>
        <p:txBody>
          <a:bodyPr wrap="square" lIns="0" tIns="0" rIns="0" bIns="0" rtlCol="0" anchor="ctr"/>
          <a:lstStyle/>
          <a:p>
            <a:pPr indent="0" marL="0">
              <a:buNone/>
            </a:pPr>
            <a:r>
              <a:rPr lang="en-US" sz="2700" b="1" dirty="0">
                <a:solidFill>
                  <a:srgbClr val="1E1B4B"/>
                </a:solidFill>
                <a:latin typeface="Arial" pitchFamily="34" charset="0"/>
                <a:ea typeface="Arial" pitchFamily="34" charset="-122"/>
                <a:cs typeface="Arial" pitchFamily="34" charset="-120"/>
              </a:rPr>
              <a:t>1 Apr 2026</a:t>
            </a:r>
            <a:endParaRPr lang="en-US" sz="2700" dirty="0"/>
          </a:p>
        </p:txBody>
      </p:sp>
      <p:sp>
        <p:nvSpPr>
          <p:cNvPr id="20" name="Text 15"/>
          <p:cNvSpPr txBox="1"/>
          <p:nvPr/>
        </p:nvSpPr>
        <p:spPr>
          <a:xfrm>
            <a:off x="8321040" y="3566160"/>
            <a:ext cx="3017520" cy="1417320"/>
          </a:xfrm>
          <a:prstGeom prst="rect">
            <a:avLst/>
          </a:prstGeom>
          <a:noFill/>
          <a:ln/>
        </p:spPr>
        <p:txBody>
          <a:bodyPr wrap="square" lIns="0" tIns="0" rIns="0" bIns="0" rtlCol="0" anchor="t"/>
          <a:lstStyle/>
          <a:p>
            <a:pPr indent="0" marL="0">
              <a:buNone/>
            </a:pPr>
            <a:r>
              <a:rPr lang="en-US" sz="1500" dirty="0">
                <a:solidFill>
                  <a:srgbClr val="374151"/>
                </a:solidFill>
                <a:latin typeface="Calibri" pitchFamily="34" charset="0"/>
                <a:ea typeface="Calibri" pitchFamily="34" charset="-122"/>
                <a:cs typeface="Calibri" pitchFamily="34" charset="-120"/>
              </a:rPr>
              <a:t>IRDAI fraud-monitoring guidelines in force: every insurer must run a Fraud Monitoring Unit, keep red-flag indicators and an incident database, and share with IIB</a:t>
            </a:r>
            <a:endParaRPr lang="en-US" sz="1500" dirty="0"/>
          </a:p>
        </p:txBody>
      </p:sp>
      <p:sp>
        <p:nvSpPr>
          <p:cNvPr id="21" name="Text 16"/>
          <p:cNvSpPr txBox="1"/>
          <p:nvPr/>
        </p:nvSpPr>
        <p:spPr>
          <a:xfrm>
            <a:off x="8321040" y="5029200"/>
            <a:ext cx="3017520" cy="41148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IRDAI Insurance Fraud Monitoring Framework Guidelines, 2025</a:t>
            </a:r>
            <a:endParaRPr lang="en-US" sz="1050" dirty="0"/>
          </a:p>
        </p:txBody>
      </p:sp>
      <p:sp>
        <p:nvSpPr>
          <p:cNvPr id="22" name="Text 17"/>
          <p:cNvSpPr txBox="1"/>
          <p:nvPr/>
        </p:nvSpPr>
        <p:spPr>
          <a:xfrm>
            <a:off x="548640" y="5897880"/>
            <a:ext cx="11064240" cy="457200"/>
          </a:xfrm>
          <a:prstGeom prst="rect">
            <a:avLst/>
          </a:prstGeom>
          <a:noFill/>
          <a:ln/>
        </p:spPr>
        <p:txBody>
          <a:bodyPr wrap="square" lIns="0" tIns="0" rIns="0" bIns="0" rtlCol="0" anchor="ctr"/>
          <a:lstStyle/>
          <a:p>
            <a:pPr indent="0" marL="0">
              <a:buNone/>
            </a:pPr>
            <a:r>
              <a:rPr lang="en-US" sz="1600" b="1" dirty="0">
                <a:solidFill>
                  <a:srgbClr val="6D28D9"/>
                </a:solidFill>
                <a:latin typeface="Calibri" pitchFamily="34" charset="0"/>
                <a:ea typeface="Calibri" pitchFamily="34" charset="-122"/>
                <a:cs typeface="Calibri" pitchFamily="34" charset="-120"/>
              </a:rPr>
              <a:t>Rings are exactly what per-claim review misses, and it's what a Fraud Monitoring Unit now has to catch.</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B"/>
        </a:solidFill>
      </p:bgPr>
    </p:bg>
    <p:spTree>
      <p:nvGrpSpPr>
        <p:cNvPr id="1" name=""/>
        <p:cNvGrpSpPr/>
        <p:nvPr/>
      </p:nvGrpSpPr>
      <p:grpSpPr>
        <a:xfrm>
          <a:off x="0" y="0"/>
          <a:ext cx="0" cy="0"/>
          <a:chOff x="0" y="0"/>
          <a:chExt cx="0" cy="0"/>
        </a:xfrm>
      </p:grpSpPr>
      <p:sp>
        <p:nvSpPr>
          <p:cNvPr id="2" name="Text 0"/>
          <p:cNvSpPr txBox="1"/>
          <p:nvPr/>
        </p:nvSpPr>
        <p:spPr>
          <a:xfrm>
            <a:off x="548640" y="182880"/>
            <a:ext cx="7315200" cy="274320"/>
          </a:xfrm>
          <a:prstGeom prst="rect">
            <a:avLst/>
          </a:prstGeom>
          <a:noFill/>
          <a:ln/>
        </p:spPr>
        <p:txBody>
          <a:bodyPr wrap="square" lIns="0" tIns="0" rIns="0" bIns="0" rtlCol="0" anchor="ctr"/>
          <a:lstStyle/>
          <a:p>
            <a:pPr indent="0" marL="0">
              <a:buNone/>
            </a:pPr>
            <a:r>
              <a:rPr lang="en-US" sz="1100" b="1" spc="300" kern="0" dirty="0">
                <a:solidFill>
                  <a:srgbClr val="6D28D9"/>
                </a:solidFill>
                <a:latin typeface="Arial" pitchFamily="34" charset="0"/>
                <a:ea typeface="Arial" pitchFamily="34" charset="-122"/>
                <a:cs typeface="Arial" pitchFamily="34" charset="-120"/>
              </a:rPr>
              <a:t>THE INSIGHT</a:t>
            </a:r>
            <a:endParaRPr lang="en-US" sz="1100" dirty="0"/>
          </a:p>
        </p:txBody>
      </p:sp>
      <p:sp>
        <p:nvSpPr>
          <p:cNvPr id="3" name="Text 1"/>
          <p:cNvSpPr txBox="1"/>
          <p:nvPr/>
        </p:nvSpPr>
        <p:spPr>
          <a:xfrm>
            <a:off x="548640" y="411480"/>
            <a:ext cx="11094415" cy="731520"/>
          </a:xfrm>
          <a:prstGeom prst="rect">
            <a:avLst/>
          </a:prstGeom>
          <a:noFill/>
          <a:ln/>
        </p:spPr>
        <p:txBody>
          <a:bodyPr wrap="square" lIns="0" tIns="0" rIns="0" bIns="0" rtlCol="0" anchor="t"/>
          <a:lstStyle/>
          <a:p>
            <a:pPr indent="0" marL="0">
              <a:buNone/>
            </a:pPr>
            <a:r>
              <a:rPr lang="en-US" sz="3000" b="1" dirty="0">
                <a:solidFill>
                  <a:srgbClr val="111827"/>
                </a:solidFill>
                <a:latin typeface="Arial" pitchFamily="34" charset="0"/>
                <a:ea typeface="Arial" pitchFamily="34" charset="-122"/>
                <a:cs typeface="Arial" pitchFamily="34" charset="-120"/>
              </a:rPr>
              <a:t>Rules over-flag, chatbots forget. Memory learns combinations.</a:t>
            </a:r>
            <a:endParaRPr lang="en-US" sz="3000" dirty="0"/>
          </a:p>
        </p:txBody>
      </p:sp>
      <p:sp>
        <p:nvSpPr>
          <p:cNvPr id="4" name="Shape 2"/>
          <p:cNvSpPr/>
          <p:nvPr/>
        </p:nvSpPr>
        <p:spPr>
          <a:xfrm>
            <a:off x="548640" y="1554480"/>
            <a:ext cx="3520440" cy="3246120"/>
          </a:xfrm>
          <a:prstGeom prst="roundRect">
            <a:avLst>
              <a:gd name="adj" fmla="val 3380"/>
            </a:avLst>
          </a:prstGeom>
          <a:solidFill>
            <a:srgbClr val="FFFFFF"/>
          </a:solidFill>
          <a:ln w="12700">
            <a:solidFill>
              <a:srgbClr val="E5E7EB"/>
            </a:solidFill>
            <a:prstDash val="solid"/>
          </a:ln>
          <a:effectLst>
            <a:outerShdw sx="100000" sy="100000" kx="0" ky="0" algn="bl" rotWithShape="0" blurRad="101600" dist="25400" dir="5400000">
              <a:srgbClr val="000000">
                <a:alpha val="12000"/>
              </a:srgbClr>
            </a:outerShdw>
          </a:effectLst>
        </p:spPr>
      </p:sp>
      <p:pic>
        <p:nvPicPr>
          <p:cNvPr id="5" name="Image 0" descr="preencoded.png">    </p:cNvPr>
          <p:cNvPicPr>
            <a:picLocks noChangeAspect="1"/>
          </p:cNvPicPr>
          <p:nvPr/>
        </p:nvPicPr>
        <p:blipFill>
          <a:blip r:embed="rId1"/>
          <a:stretch>
            <a:fillRect/>
          </a:stretch>
        </p:blipFill>
        <p:spPr>
          <a:xfrm>
            <a:off x="822960" y="1874520"/>
            <a:ext cx="502920" cy="502920"/>
          </a:xfrm>
          <a:prstGeom prst="rect">
            <a:avLst/>
          </a:prstGeom>
        </p:spPr>
      </p:pic>
      <p:sp>
        <p:nvSpPr>
          <p:cNvPr id="6" name="Text 3"/>
          <p:cNvSpPr txBox="1"/>
          <p:nvPr/>
        </p:nvSpPr>
        <p:spPr>
          <a:xfrm>
            <a:off x="822960" y="2560320"/>
            <a:ext cx="3017520" cy="457200"/>
          </a:xfrm>
          <a:prstGeom prst="rect">
            <a:avLst/>
          </a:prstGeom>
          <a:noFill/>
          <a:ln/>
        </p:spPr>
        <p:txBody>
          <a:bodyPr wrap="square" lIns="0" tIns="0" rIns="0" bIns="0" rtlCol="0" anchor="ctr"/>
          <a:lstStyle/>
          <a:p>
            <a:pPr indent="0" marL="0">
              <a:buNone/>
            </a:pPr>
            <a:r>
              <a:rPr lang="en-US" sz="2200" b="1" dirty="0">
                <a:solidFill>
                  <a:srgbClr val="111827"/>
                </a:solidFill>
                <a:latin typeface="Arial" pitchFamily="34" charset="0"/>
                <a:ea typeface="Arial" pitchFamily="34" charset="-122"/>
                <a:cs typeface="Arial" pitchFamily="34" charset="-120"/>
              </a:rPr>
              <a:t>A rule</a:t>
            </a:r>
            <a:endParaRPr lang="en-US" sz="2200" dirty="0"/>
          </a:p>
        </p:txBody>
      </p:sp>
      <p:sp>
        <p:nvSpPr>
          <p:cNvPr id="7" name="Text 4"/>
          <p:cNvSpPr txBox="1"/>
          <p:nvPr/>
        </p:nvSpPr>
        <p:spPr>
          <a:xfrm>
            <a:off x="822960" y="3035808"/>
            <a:ext cx="3017520" cy="365760"/>
          </a:xfrm>
          <a:prstGeom prst="rect">
            <a:avLst/>
          </a:prstGeom>
          <a:noFill/>
          <a:ln/>
        </p:spPr>
        <p:txBody>
          <a:bodyPr wrap="square" lIns="0" tIns="0" rIns="0" bIns="0" rtlCol="0" anchor="ctr"/>
          <a:lstStyle/>
          <a:p>
            <a:pPr indent="0" marL="0">
              <a:buNone/>
            </a:pPr>
            <a:r>
              <a:rPr lang="en-US" sz="1500" i="1" dirty="0">
                <a:solidFill>
                  <a:srgbClr val="6B7280"/>
                </a:solidFill>
                <a:latin typeface="Calibri" pitchFamily="34" charset="0"/>
                <a:ea typeface="Calibri" pitchFamily="34" charset="-122"/>
                <a:cs typeface="Calibri" pitchFamily="34" charset="-120"/>
              </a:rPr>
              <a:t>“Flag Sri Balaji Auto Works”</a:t>
            </a:r>
            <a:endParaRPr lang="en-US" sz="1500" dirty="0"/>
          </a:p>
        </p:txBody>
      </p:sp>
      <p:sp>
        <p:nvSpPr>
          <p:cNvPr id="8" name="Text 5"/>
          <p:cNvSpPr txBox="1"/>
          <p:nvPr/>
        </p:nvSpPr>
        <p:spPr>
          <a:xfrm>
            <a:off x="822960" y="3520440"/>
            <a:ext cx="3017520" cy="1188720"/>
          </a:xfrm>
          <a:prstGeom prst="rect">
            <a:avLst/>
          </a:prstGeom>
          <a:noFill/>
          <a:ln/>
        </p:spPr>
        <p:txBody>
          <a:bodyPr wrap="square" lIns="0" tIns="0" rIns="0" bIns="0" rtlCol="0" anchor="t"/>
          <a:lstStyle/>
          <a:p>
            <a:pPr indent="0" marL="0">
              <a:buNone/>
            </a:pPr>
            <a:r>
              <a:rPr lang="en-US" sz="1500" dirty="0">
                <a:solidFill>
                  <a:srgbClr val="374151"/>
                </a:solidFill>
                <a:latin typeface="Calibri" pitchFamily="34" charset="0"/>
                <a:ea typeface="Calibri" pitchFamily="34" charset="-122"/>
                <a:cs typeface="Calibri" pitchFamily="34" charset="-120"/>
              </a:rPr>
              <a:t>Also flags #10614, an honest driver rear-ended at the same garage with a different surveyor. Genuine customers get delayed.</a:t>
            </a:r>
            <a:endParaRPr lang="en-US" sz="1500" dirty="0"/>
          </a:p>
        </p:txBody>
      </p:sp>
      <p:sp>
        <p:nvSpPr>
          <p:cNvPr id="9" name="Shape 6"/>
          <p:cNvSpPr/>
          <p:nvPr/>
        </p:nvSpPr>
        <p:spPr>
          <a:xfrm>
            <a:off x="4297680" y="1554480"/>
            <a:ext cx="3520440" cy="3246120"/>
          </a:xfrm>
          <a:prstGeom prst="roundRect">
            <a:avLst>
              <a:gd name="adj" fmla="val 3380"/>
            </a:avLst>
          </a:prstGeom>
          <a:solidFill>
            <a:srgbClr val="FFFFFF"/>
          </a:solidFill>
          <a:ln w="12700">
            <a:solidFill>
              <a:srgbClr val="E5E7EB"/>
            </a:solidFill>
            <a:prstDash val="solid"/>
          </a:ln>
          <a:effectLst>
            <a:outerShdw sx="100000" sy="100000" kx="0" ky="0" algn="bl" rotWithShape="0" blurRad="101600" dist="25400" dir="5400000">
              <a:srgbClr val="000000">
                <a:alpha val="12000"/>
              </a:srgbClr>
            </a:outerShdw>
          </a:effectLst>
        </p:spPr>
      </p:sp>
      <p:pic>
        <p:nvPicPr>
          <p:cNvPr id="10" name="Image 1" descr="preencoded.png">    </p:cNvPr>
          <p:cNvPicPr>
            <a:picLocks noChangeAspect="1"/>
          </p:cNvPicPr>
          <p:nvPr/>
        </p:nvPicPr>
        <p:blipFill>
          <a:blip r:embed="rId2"/>
          <a:stretch>
            <a:fillRect/>
          </a:stretch>
        </p:blipFill>
        <p:spPr>
          <a:xfrm>
            <a:off x="4572000" y="1874520"/>
            <a:ext cx="502920" cy="502920"/>
          </a:xfrm>
          <a:prstGeom prst="rect">
            <a:avLst/>
          </a:prstGeom>
        </p:spPr>
      </p:pic>
      <p:sp>
        <p:nvSpPr>
          <p:cNvPr id="11" name="Text 7"/>
          <p:cNvSpPr txBox="1"/>
          <p:nvPr/>
        </p:nvSpPr>
        <p:spPr>
          <a:xfrm>
            <a:off x="4572000" y="2560320"/>
            <a:ext cx="3017520" cy="457200"/>
          </a:xfrm>
          <a:prstGeom prst="rect">
            <a:avLst/>
          </a:prstGeom>
          <a:noFill/>
          <a:ln/>
        </p:spPr>
        <p:txBody>
          <a:bodyPr wrap="square" lIns="0" tIns="0" rIns="0" bIns="0" rtlCol="0" anchor="ctr"/>
          <a:lstStyle/>
          <a:p>
            <a:pPr indent="0" marL="0">
              <a:buNone/>
            </a:pPr>
            <a:r>
              <a:rPr lang="en-US" sz="2200" b="1" dirty="0">
                <a:solidFill>
                  <a:srgbClr val="111827"/>
                </a:solidFill>
                <a:latin typeface="Arial" pitchFamily="34" charset="0"/>
                <a:ea typeface="Arial" pitchFamily="34" charset="-122"/>
                <a:cs typeface="Arial" pitchFamily="34" charset="-120"/>
              </a:rPr>
              <a:t>A stateless AI</a:t>
            </a:r>
            <a:endParaRPr lang="en-US" sz="2200" dirty="0"/>
          </a:p>
        </p:txBody>
      </p:sp>
      <p:sp>
        <p:nvSpPr>
          <p:cNvPr id="12" name="Text 8"/>
          <p:cNvSpPr txBox="1"/>
          <p:nvPr/>
        </p:nvSpPr>
        <p:spPr>
          <a:xfrm>
            <a:off x="4572000" y="3035808"/>
            <a:ext cx="3017520" cy="365760"/>
          </a:xfrm>
          <a:prstGeom prst="rect">
            <a:avLst/>
          </a:prstGeom>
          <a:noFill/>
          <a:ln/>
        </p:spPr>
        <p:txBody>
          <a:bodyPr wrap="square" lIns="0" tIns="0" rIns="0" bIns="0" rtlCol="0" anchor="ctr"/>
          <a:lstStyle/>
          <a:p>
            <a:pPr indent="0" marL="0">
              <a:buNone/>
            </a:pPr>
            <a:r>
              <a:rPr lang="en-US" sz="1500" i="1" dirty="0">
                <a:solidFill>
                  <a:srgbClr val="6B7280"/>
                </a:solidFill>
                <a:latin typeface="Calibri" pitchFamily="34" charset="0"/>
                <a:ea typeface="Calibri" pitchFamily="34" charset="-122"/>
                <a:cs typeface="Calibri" pitchFamily="34" charset="-120"/>
              </a:rPr>
              <a:t>Reads one claim at a time</a:t>
            </a:r>
            <a:endParaRPr lang="en-US" sz="1500" dirty="0"/>
          </a:p>
        </p:txBody>
      </p:sp>
      <p:sp>
        <p:nvSpPr>
          <p:cNvPr id="13" name="Text 9"/>
          <p:cNvSpPr txBox="1"/>
          <p:nvPr/>
        </p:nvSpPr>
        <p:spPr>
          <a:xfrm>
            <a:off x="4572000" y="3520440"/>
            <a:ext cx="3017520" cy="1188720"/>
          </a:xfrm>
          <a:prstGeom prst="rect">
            <a:avLst/>
          </a:prstGeom>
          <a:noFill/>
          <a:ln/>
        </p:spPr>
        <p:txBody>
          <a:bodyPr wrap="square" lIns="0" tIns="0" rIns="0" bIns="0" rtlCol="0" anchor="t"/>
          <a:lstStyle/>
          <a:p>
            <a:pPr indent="0" marL="0">
              <a:buNone/>
            </a:pPr>
            <a:r>
              <a:rPr lang="en-US" sz="1500" dirty="0">
                <a:solidFill>
                  <a:srgbClr val="374151"/>
                </a:solidFill>
                <a:latin typeface="Calibri" pitchFamily="34" charset="0"/>
                <a:ea typeface="Calibri" pitchFamily="34" charset="-122"/>
                <a:cs typeface="Calibri" pitchFamily="34" charset="-120"/>
              </a:rPr>
              <a:t>Can't know the phone or bank account was used before, or what investigators decided. Scores every ring claim 15/100: fast-track.</a:t>
            </a:r>
            <a:endParaRPr lang="en-US" sz="1500" dirty="0"/>
          </a:p>
        </p:txBody>
      </p:sp>
      <p:sp>
        <p:nvSpPr>
          <p:cNvPr id="14" name="Shape 10"/>
          <p:cNvSpPr/>
          <p:nvPr/>
        </p:nvSpPr>
        <p:spPr>
          <a:xfrm>
            <a:off x="8046720" y="1554480"/>
            <a:ext cx="3520440" cy="3246120"/>
          </a:xfrm>
          <a:prstGeom prst="roundRect">
            <a:avLst>
              <a:gd name="adj" fmla="val 3380"/>
            </a:avLst>
          </a:prstGeom>
          <a:solidFill>
            <a:srgbClr val="F6F3FF"/>
          </a:solidFill>
          <a:ln w="12700">
            <a:solidFill>
              <a:srgbClr val="C4B5FD"/>
            </a:solidFill>
            <a:prstDash val="solid"/>
          </a:ln>
          <a:effectLst>
            <a:outerShdw sx="100000" sy="100000" kx="0" ky="0" algn="bl" rotWithShape="0" blurRad="101600" dist="25400" dir="5400000">
              <a:srgbClr val="000000">
                <a:alpha val="12000"/>
              </a:srgbClr>
            </a:outerShdw>
          </a:effectLst>
        </p:spPr>
      </p:sp>
      <p:pic>
        <p:nvPicPr>
          <p:cNvPr id="15" name="Image 2" descr="preencoded.png">    </p:cNvPr>
          <p:cNvPicPr>
            <a:picLocks noChangeAspect="1"/>
          </p:cNvPicPr>
          <p:nvPr/>
        </p:nvPicPr>
        <p:blipFill>
          <a:blip r:embed="rId3"/>
          <a:stretch>
            <a:fillRect/>
          </a:stretch>
        </p:blipFill>
        <p:spPr>
          <a:xfrm>
            <a:off x="8321040" y="1874520"/>
            <a:ext cx="502920" cy="502920"/>
          </a:xfrm>
          <a:prstGeom prst="rect">
            <a:avLst/>
          </a:prstGeom>
        </p:spPr>
      </p:pic>
      <p:sp>
        <p:nvSpPr>
          <p:cNvPr id="16" name="Text 11"/>
          <p:cNvSpPr txBox="1"/>
          <p:nvPr/>
        </p:nvSpPr>
        <p:spPr>
          <a:xfrm>
            <a:off x="8321040" y="2560320"/>
            <a:ext cx="3017520" cy="457200"/>
          </a:xfrm>
          <a:prstGeom prst="rect">
            <a:avLst/>
          </a:prstGeom>
          <a:noFill/>
          <a:ln/>
        </p:spPr>
        <p:txBody>
          <a:bodyPr wrap="square" lIns="0" tIns="0" rIns="0" bIns="0" rtlCol="0" anchor="ctr"/>
          <a:lstStyle/>
          <a:p>
            <a:pPr indent="0" marL="0">
              <a:buNone/>
            </a:pPr>
            <a:r>
              <a:rPr lang="en-US" sz="2200" b="1" dirty="0">
                <a:solidFill>
                  <a:srgbClr val="6D28D9"/>
                </a:solidFill>
                <a:latin typeface="Arial" pitchFamily="34" charset="0"/>
                <a:ea typeface="Arial" pitchFamily="34" charset="-122"/>
                <a:cs typeface="Arial" pitchFamily="34" charset="-120"/>
              </a:rPr>
              <a:t>ClaimLens + Hindsight</a:t>
            </a:r>
            <a:endParaRPr lang="en-US" sz="2200" dirty="0"/>
          </a:p>
        </p:txBody>
      </p:sp>
      <p:sp>
        <p:nvSpPr>
          <p:cNvPr id="17" name="Text 12"/>
          <p:cNvSpPr txBox="1"/>
          <p:nvPr/>
        </p:nvSpPr>
        <p:spPr>
          <a:xfrm>
            <a:off x="8321040" y="3035808"/>
            <a:ext cx="3017520" cy="365760"/>
          </a:xfrm>
          <a:prstGeom prst="rect">
            <a:avLst/>
          </a:prstGeom>
          <a:noFill/>
          <a:ln/>
        </p:spPr>
        <p:txBody>
          <a:bodyPr wrap="square" lIns="0" tIns="0" rIns="0" bIns="0" rtlCol="0" anchor="ctr"/>
          <a:lstStyle/>
          <a:p>
            <a:pPr indent="0" marL="0">
              <a:buNone/>
            </a:pPr>
            <a:r>
              <a:rPr lang="en-US" sz="1500" i="1" dirty="0">
                <a:solidFill>
                  <a:srgbClr val="6D28D9"/>
                </a:solidFill>
                <a:latin typeface="Calibri" pitchFamily="34" charset="0"/>
                <a:ea typeface="Calibri" pitchFamily="34" charset="-122"/>
                <a:cs typeface="Calibri" pitchFamily="34" charset="-120"/>
              </a:rPr>
              <a:t>Remembers every claim and outcome</a:t>
            </a:r>
            <a:endParaRPr lang="en-US" sz="1500" dirty="0"/>
          </a:p>
        </p:txBody>
      </p:sp>
      <p:sp>
        <p:nvSpPr>
          <p:cNvPr id="18" name="Text 13"/>
          <p:cNvSpPr txBox="1"/>
          <p:nvPr/>
        </p:nvSpPr>
        <p:spPr>
          <a:xfrm>
            <a:off x="8321040" y="3520440"/>
            <a:ext cx="3017520" cy="1188720"/>
          </a:xfrm>
          <a:prstGeom prst="rect">
            <a:avLst/>
          </a:prstGeom>
          <a:noFill/>
          <a:ln/>
        </p:spPr>
        <p:txBody>
          <a:bodyPr wrap="square" lIns="0" tIns="0" rIns="0" bIns="0" rtlCol="0" anchor="t"/>
          <a:lstStyle/>
          <a:p>
            <a:pPr indent="0" marL="0">
              <a:buNone/>
            </a:pPr>
            <a:r>
              <a:rPr lang="en-US" sz="1500" dirty="0">
                <a:solidFill>
                  <a:srgbClr val="374151"/>
                </a:solidFill>
                <a:latin typeface="Calibri" pitchFamily="34" charset="0"/>
                <a:ea typeface="Calibri" pitchFamily="34" charset="-122"/>
                <a:cs typeface="Calibri" pitchFamily="34" charset="-120"/>
              </a:rPr>
              <a:t>Links combinations (shared phone, account, surveyor) and weighs what investigators concluded. Gets better with every case the unit closes.</a:t>
            </a:r>
            <a:endParaRPr lang="en-US" sz="1500" dirty="0"/>
          </a:p>
        </p:txBody>
      </p:sp>
      <p:sp>
        <p:nvSpPr>
          <p:cNvPr id="19" name="Shape 14"/>
          <p:cNvSpPr/>
          <p:nvPr/>
        </p:nvSpPr>
        <p:spPr>
          <a:xfrm>
            <a:off x="548640" y="5074920"/>
            <a:ext cx="11064240" cy="1234440"/>
          </a:xfrm>
          <a:prstGeom prst="roundRect">
            <a:avLst>
              <a:gd name="adj" fmla="val 8889"/>
            </a:avLst>
          </a:prstGeom>
          <a:solidFill>
            <a:srgbClr val="1E1B4B"/>
          </a:solidFill>
          <a:ln w="12700">
            <a:solidFill>
              <a:srgbClr val="1E1B4B"/>
            </a:solidFill>
            <a:prstDash val="solid"/>
          </a:ln>
          <a:effectLst>
            <a:outerShdw sx="100000" sy="100000" kx="0" ky="0" algn="bl" rotWithShape="0" blurRad="101600" dist="25400" dir="5400000">
              <a:srgbClr val="000000">
                <a:alpha val="12000"/>
              </a:srgbClr>
            </a:outerShdw>
          </a:effectLst>
        </p:spPr>
      </p:sp>
      <p:sp>
        <p:nvSpPr>
          <p:cNvPr id="20" name="Text 15"/>
          <p:cNvSpPr txBox="1"/>
          <p:nvPr/>
        </p:nvSpPr>
        <p:spPr>
          <a:xfrm>
            <a:off x="822960" y="5212080"/>
            <a:ext cx="10515600" cy="960120"/>
          </a:xfrm>
          <a:prstGeom prst="rect">
            <a:avLst/>
          </a:prstGeom>
          <a:noFill/>
          <a:ln/>
        </p:spPr>
        <p:txBody>
          <a:bodyPr wrap="square" lIns="0" tIns="0" rIns="0" bIns="0" rtlCol="0" anchor="ctr"/>
          <a:lstStyle/>
          <a:p>
            <a:pPr indent="0" marL="0">
              <a:buNone/>
            </a:pPr>
            <a:r>
              <a:rPr lang="en-US" sz="1600" dirty="0">
                <a:solidFill>
                  <a:srgbClr val="DDD6FE"/>
                </a:solidFill>
                <a:latin typeface="Calibri" pitchFamily="34" charset="0"/>
                <a:ea typeface="Calibri" pitchFamily="34" charset="-122"/>
                <a:cs typeface="Calibri" pitchFamily="34" charset="-120"/>
              </a:rPr>
              <a:t>In our data, </a:t>
            </a:r>
            <a:pPr indent="0" marL="0">
              <a:buNone/>
            </a:pPr>
            <a:r>
              <a:rPr lang="en-US" sz="1600" b="1" dirty="0">
                <a:solidFill>
                  <a:srgbClr val="FFFFFF"/>
                </a:solidFill>
                <a:latin typeface="Calibri" pitchFamily="34" charset="0"/>
                <a:ea typeface="Calibri" pitchFamily="34" charset="-122"/>
                <a:cs typeface="Calibri" pitchFamily="34" charset="-120"/>
              </a:rPr>
              <a:t>Sri Balaji Auto Works has 20 claims: 13 from the ring and 7 honest ones.</a:t>
            </a:r>
            <a:pPr indent="0" marL="0">
              <a:buNone/>
            </a:pPr>
            <a:r>
              <a:rPr lang="en-US" sz="1600" dirty="0">
                <a:solidFill>
                  <a:srgbClr val="DDD6FE"/>
                </a:solidFill>
                <a:latin typeface="Calibri" pitchFamily="34" charset="0"/>
                <a:ea typeface="Calibri" pitchFamily="34" charset="-122"/>
                <a:cs typeface="Calibri" pitchFamily="34" charset="-120"/>
              </a:rPr>
              <a:t> A garage rule flags all 20. ClaimLens flags the ring claims once their links are STRONG, and the honest claim #10614 stays at 22/100.</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82880"/>
            <a:ext cx="7315200" cy="274320"/>
          </a:xfrm>
          <a:prstGeom prst="rect">
            <a:avLst/>
          </a:prstGeom>
          <a:noFill/>
          <a:ln/>
        </p:spPr>
        <p:txBody>
          <a:bodyPr wrap="square" lIns="0" tIns="0" rIns="0" bIns="0" rtlCol="0" anchor="ctr"/>
          <a:lstStyle/>
          <a:p>
            <a:pPr indent="0" marL="0">
              <a:buNone/>
            </a:pPr>
            <a:r>
              <a:rPr lang="en-US" sz="1100" b="1" spc="300" kern="0" dirty="0">
                <a:solidFill>
                  <a:srgbClr val="6D28D9"/>
                </a:solidFill>
                <a:latin typeface="Arial" pitchFamily="34" charset="0"/>
                <a:ea typeface="Arial" pitchFamily="34" charset="-122"/>
                <a:cs typeface="Arial" pitchFamily="34" charset="-120"/>
              </a:rPr>
              <a:t>HOW IT WORKS</a:t>
            </a:r>
            <a:endParaRPr lang="en-US" sz="1100" dirty="0"/>
          </a:p>
        </p:txBody>
      </p:sp>
      <p:sp>
        <p:nvSpPr>
          <p:cNvPr id="3" name="Text 1"/>
          <p:cNvSpPr txBox="1"/>
          <p:nvPr/>
        </p:nvSpPr>
        <p:spPr>
          <a:xfrm>
            <a:off x="548640" y="411480"/>
            <a:ext cx="11094415" cy="731520"/>
          </a:xfrm>
          <a:prstGeom prst="rect">
            <a:avLst/>
          </a:prstGeom>
          <a:noFill/>
          <a:ln/>
        </p:spPr>
        <p:txBody>
          <a:bodyPr wrap="square" lIns="0" tIns="0" rIns="0" bIns="0" rtlCol="0" anchor="t"/>
          <a:lstStyle/>
          <a:p>
            <a:pPr indent="0" marL="0">
              <a:buNone/>
            </a:pPr>
            <a:r>
              <a:rPr lang="en-US" sz="3000" b="1" dirty="0">
                <a:solidFill>
                  <a:srgbClr val="111827"/>
                </a:solidFill>
                <a:latin typeface="Arial" pitchFamily="34" charset="0"/>
                <a:ea typeface="Arial" pitchFamily="34" charset="-122"/>
                <a:cs typeface="Arial" pitchFamily="34" charset="-120"/>
              </a:rPr>
              <a:t>Hindsight is the institutional memory. The agent asks it what an investigator would.</a:t>
            </a:r>
            <a:endParaRPr lang="en-US" sz="3000" dirty="0"/>
          </a:p>
        </p:txBody>
      </p:sp>
      <p:sp>
        <p:nvSpPr>
          <p:cNvPr id="4" name="Shape 2"/>
          <p:cNvSpPr/>
          <p:nvPr/>
        </p:nvSpPr>
        <p:spPr>
          <a:xfrm>
            <a:off x="548640" y="1600200"/>
            <a:ext cx="2103120" cy="2606040"/>
          </a:xfrm>
          <a:prstGeom prst="roundRect">
            <a:avLst>
              <a:gd name="adj" fmla="val 5217"/>
            </a:avLst>
          </a:prstGeom>
          <a:solidFill>
            <a:srgbClr val="F7F7FB"/>
          </a:solidFill>
          <a:ln w="12700">
            <a:solidFill>
              <a:srgbClr val="E5E7EB"/>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777240" y="1828800"/>
            <a:ext cx="640080" cy="640080"/>
          </a:xfrm>
          <a:prstGeom prst="ellipse">
            <a:avLst/>
          </a:prstGeom>
          <a:solidFill>
            <a:srgbClr val="6D28D9"/>
          </a:solidFill>
          <a:ln w="12700">
            <a:solidFill>
              <a:srgbClr val="6D28D9"/>
            </a:solidFill>
            <a:prstDash val="solid"/>
          </a:ln>
        </p:spPr>
      </p:sp>
      <p:pic>
        <p:nvPicPr>
          <p:cNvPr id="6" name="Image 0" descr="preencoded.png">    </p:cNvPr>
          <p:cNvPicPr>
            <a:picLocks noChangeAspect="1"/>
          </p:cNvPicPr>
          <p:nvPr/>
        </p:nvPicPr>
        <p:blipFill>
          <a:blip r:embed="rId1"/>
          <a:stretch>
            <a:fillRect/>
          </a:stretch>
        </p:blipFill>
        <p:spPr>
          <a:xfrm>
            <a:off x="937260" y="1988820"/>
            <a:ext cx="320040" cy="320040"/>
          </a:xfrm>
          <a:prstGeom prst="rect">
            <a:avLst/>
          </a:prstGeom>
        </p:spPr>
      </p:pic>
      <p:sp>
        <p:nvSpPr>
          <p:cNvPr id="7" name="Text 4"/>
          <p:cNvSpPr txBox="1"/>
          <p:nvPr/>
        </p:nvSpPr>
        <p:spPr>
          <a:xfrm>
            <a:off x="777240" y="2606040"/>
            <a:ext cx="1737360" cy="411480"/>
          </a:xfrm>
          <a:prstGeom prst="rect">
            <a:avLst/>
          </a:prstGeom>
          <a:noFill/>
          <a:ln/>
        </p:spPr>
        <p:txBody>
          <a:bodyPr wrap="square" lIns="0" tIns="0" rIns="0" bIns="0" rtlCol="0" anchor="ctr"/>
          <a:lstStyle/>
          <a:p>
            <a:pPr indent="0" marL="0">
              <a:buNone/>
            </a:pPr>
            <a:r>
              <a:rPr lang="en-US" sz="1700" b="1" dirty="0">
                <a:solidFill>
                  <a:srgbClr val="111827"/>
                </a:solidFill>
                <a:latin typeface="Arial" pitchFamily="34" charset="0"/>
                <a:ea typeface="Arial" pitchFamily="34" charset="-122"/>
                <a:cs typeface="Arial" pitchFamily="34" charset="-120"/>
              </a:rPr>
              <a:t>1  Retain</a:t>
            </a:r>
            <a:endParaRPr lang="en-US" sz="1700" dirty="0"/>
          </a:p>
        </p:txBody>
      </p:sp>
      <p:sp>
        <p:nvSpPr>
          <p:cNvPr id="8" name="Text 5"/>
          <p:cNvSpPr txBox="1"/>
          <p:nvPr/>
        </p:nvSpPr>
        <p:spPr>
          <a:xfrm>
            <a:off x="777240" y="3044952"/>
            <a:ext cx="1691640" cy="1371600"/>
          </a:xfrm>
          <a:prstGeom prst="rect">
            <a:avLst/>
          </a:prstGeom>
          <a:noFill/>
          <a:ln/>
        </p:spPr>
        <p:txBody>
          <a:bodyPr wrap="square" lIns="0" tIns="0" rIns="0" bIns="0" rtlCol="0" anchor="t"/>
          <a:lstStyle/>
          <a:p>
            <a:pPr indent="0" marL="0">
              <a:buNone/>
            </a:pPr>
            <a:r>
              <a:rPr lang="en-US" sz="1250" dirty="0">
                <a:solidFill>
                  <a:srgbClr val="374151"/>
                </a:solidFill>
                <a:latin typeface="Calibri" pitchFamily="34" charset="0"/>
                <a:ea typeface="Calibri" pitchFamily="34" charset="-122"/>
                <a:cs typeface="Calibri" pitchFamily="34" charset="-120"/>
              </a:rPr>
              <a:t>Every claim at intake, with phone, account, vehicle, surveyor… as entities and tags</a:t>
            </a:r>
            <a:endParaRPr lang="en-US" sz="1250" dirty="0"/>
          </a:p>
        </p:txBody>
      </p:sp>
      <p:sp>
        <p:nvSpPr>
          <p:cNvPr id="9" name="Text 6"/>
          <p:cNvSpPr txBox="1"/>
          <p:nvPr/>
        </p:nvSpPr>
        <p:spPr>
          <a:xfrm>
            <a:off x="2633472" y="2697480"/>
            <a:ext cx="201168" cy="457200"/>
          </a:xfrm>
          <a:prstGeom prst="rect">
            <a:avLst/>
          </a:prstGeom>
          <a:noFill/>
          <a:ln/>
        </p:spPr>
        <p:txBody>
          <a:bodyPr wrap="square" lIns="0" tIns="0" rIns="0" bIns="0" rtlCol="0" anchor="ctr"/>
          <a:lstStyle/>
          <a:p>
            <a:pPr algn="ctr" indent="0" marL="0">
              <a:buNone/>
            </a:pPr>
            <a:r>
              <a:rPr lang="en-US" sz="2200" b="1" dirty="0">
                <a:solidFill>
                  <a:srgbClr val="6D28D9"/>
                </a:solidFill>
                <a:latin typeface="Arial" pitchFamily="34" charset="0"/>
                <a:ea typeface="Arial" pitchFamily="34" charset="-122"/>
                <a:cs typeface="Arial" pitchFamily="34" charset="-120"/>
              </a:rPr>
              <a:t>›</a:t>
            </a:r>
            <a:endParaRPr lang="en-US" sz="2200" dirty="0"/>
          </a:p>
        </p:txBody>
      </p:sp>
      <p:sp>
        <p:nvSpPr>
          <p:cNvPr id="10" name="Shape 7"/>
          <p:cNvSpPr/>
          <p:nvPr/>
        </p:nvSpPr>
        <p:spPr>
          <a:xfrm>
            <a:off x="2816352" y="1600200"/>
            <a:ext cx="2103120" cy="2606040"/>
          </a:xfrm>
          <a:prstGeom prst="roundRect">
            <a:avLst>
              <a:gd name="adj" fmla="val 5217"/>
            </a:avLst>
          </a:prstGeom>
          <a:solidFill>
            <a:srgbClr val="F7F7FB"/>
          </a:solidFill>
          <a:ln w="12700">
            <a:solidFill>
              <a:srgbClr val="E5E7EB"/>
            </a:solidFill>
            <a:prstDash val="solid"/>
          </a:ln>
          <a:effectLst>
            <a:outerShdw sx="100000" sy="100000" kx="0" ky="0" algn="bl" rotWithShape="0" blurRad="101600" dist="25400" dir="5400000">
              <a:srgbClr val="000000">
                <a:alpha val="12000"/>
              </a:srgbClr>
            </a:outerShdw>
          </a:effectLst>
        </p:spPr>
      </p:sp>
      <p:sp>
        <p:nvSpPr>
          <p:cNvPr id="11" name="Shape 8"/>
          <p:cNvSpPr/>
          <p:nvPr/>
        </p:nvSpPr>
        <p:spPr>
          <a:xfrm>
            <a:off x="3044952" y="1828800"/>
            <a:ext cx="640080" cy="640080"/>
          </a:xfrm>
          <a:prstGeom prst="ellipse">
            <a:avLst/>
          </a:prstGeom>
          <a:solidFill>
            <a:srgbClr val="6D28D9"/>
          </a:solidFill>
          <a:ln w="12700">
            <a:solidFill>
              <a:srgbClr val="6D28D9"/>
            </a:solidFill>
            <a:prstDash val="solid"/>
          </a:ln>
        </p:spPr>
      </p:sp>
      <p:pic>
        <p:nvPicPr>
          <p:cNvPr id="12" name="Image 1" descr="preencoded.png">    </p:cNvPr>
          <p:cNvPicPr>
            <a:picLocks noChangeAspect="1"/>
          </p:cNvPicPr>
          <p:nvPr/>
        </p:nvPicPr>
        <p:blipFill>
          <a:blip r:embed="rId2"/>
          <a:stretch>
            <a:fillRect/>
          </a:stretch>
        </p:blipFill>
        <p:spPr>
          <a:xfrm>
            <a:off x="3204972" y="1988820"/>
            <a:ext cx="320040" cy="320040"/>
          </a:xfrm>
          <a:prstGeom prst="rect">
            <a:avLst/>
          </a:prstGeom>
        </p:spPr>
      </p:pic>
      <p:sp>
        <p:nvSpPr>
          <p:cNvPr id="13" name="Text 9"/>
          <p:cNvSpPr txBox="1"/>
          <p:nvPr/>
        </p:nvSpPr>
        <p:spPr>
          <a:xfrm>
            <a:off x="3044952" y="2606040"/>
            <a:ext cx="1737360" cy="411480"/>
          </a:xfrm>
          <a:prstGeom prst="rect">
            <a:avLst/>
          </a:prstGeom>
          <a:noFill/>
          <a:ln/>
        </p:spPr>
        <p:txBody>
          <a:bodyPr wrap="square" lIns="0" tIns="0" rIns="0" bIns="0" rtlCol="0" anchor="ctr"/>
          <a:lstStyle/>
          <a:p>
            <a:pPr indent="0" marL="0">
              <a:buNone/>
            </a:pPr>
            <a:r>
              <a:rPr lang="en-US" sz="1700" b="1" dirty="0">
                <a:solidFill>
                  <a:srgbClr val="111827"/>
                </a:solidFill>
                <a:latin typeface="Arial" pitchFamily="34" charset="0"/>
                <a:ea typeface="Arial" pitchFamily="34" charset="-122"/>
                <a:cs typeface="Arial" pitchFamily="34" charset="-120"/>
              </a:rPr>
              <a:t>2  Recall ×17</a:t>
            </a:r>
            <a:endParaRPr lang="en-US" sz="1700" dirty="0"/>
          </a:p>
        </p:txBody>
      </p:sp>
      <p:sp>
        <p:nvSpPr>
          <p:cNvPr id="14" name="Text 10"/>
          <p:cNvSpPr txBox="1"/>
          <p:nvPr/>
        </p:nvSpPr>
        <p:spPr>
          <a:xfrm>
            <a:off x="3044952" y="3044952"/>
            <a:ext cx="1691640" cy="1371600"/>
          </a:xfrm>
          <a:prstGeom prst="rect">
            <a:avLst/>
          </a:prstGeom>
          <a:noFill/>
          <a:ln/>
        </p:spPr>
        <p:txBody>
          <a:bodyPr wrap="square" lIns="0" tIns="0" rIns="0" bIns="0" rtlCol="0" anchor="t"/>
          <a:lstStyle/>
          <a:p>
            <a:pPr indent="0" marL="0">
              <a:buNone/>
            </a:pPr>
            <a:r>
              <a:rPr lang="en-US" sz="1250" dirty="0">
                <a:solidFill>
                  <a:srgbClr val="374151"/>
                </a:solidFill>
                <a:latin typeface="Calibri" pitchFamily="34" charset="0"/>
                <a:ea typeface="Calibri" pitchFamily="34" charset="-122"/>
                <a:cs typeface="Calibri" pitchFamily="34" charset="-120"/>
              </a:rPr>
              <a:t>Who else has this phone? What did SIU decide about this surveyor? Heard this story before?</a:t>
            </a:r>
            <a:endParaRPr lang="en-US" sz="1250" dirty="0"/>
          </a:p>
        </p:txBody>
      </p:sp>
      <p:sp>
        <p:nvSpPr>
          <p:cNvPr id="15" name="Text 11"/>
          <p:cNvSpPr txBox="1"/>
          <p:nvPr/>
        </p:nvSpPr>
        <p:spPr>
          <a:xfrm>
            <a:off x="4901184" y="2697480"/>
            <a:ext cx="201168" cy="457200"/>
          </a:xfrm>
          <a:prstGeom prst="rect">
            <a:avLst/>
          </a:prstGeom>
          <a:noFill/>
          <a:ln/>
        </p:spPr>
        <p:txBody>
          <a:bodyPr wrap="square" lIns="0" tIns="0" rIns="0" bIns="0" rtlCol="0" anchor="ctr"/>
          <a:lstStyle/>
          <a:p>
            <a:pPr algn="ctr" indent="0" marL="0">
              <a:buNone/>
            </a:pPr>
            <a:r>
              <a:rPr lang="en-US" sz="2200" b="1" dirty="0">
                <a:solidFill>
                  <a:srgbClr val="6D28D9"/>
                </a:solidFill>
                <a:latin typeface="Arial" pitchFamily="34" charset="0"/>
                <a:ea typeface="Arial" pitchFamily="34" charset="-122"/>
                <a:cs typeface="Arial" pitchFamily="34" charset="-120"/>
              </a:rPr>
              <a:t>›</a:t>
            </a:r>
            <a:endParaRPr lang="en-US" sz="2200" dirty="0"/>
          </a:p>
        </p:txBody>
      </p:sp>
      <p:sp>
        <p:nvSpPr>
          <p:cNvPr id="16" name="Shape 12"/>
          <p:cNvSpPr/>
          <p:nvPr/>
        </p:nvSpPr>
        <p:spPr>
          <a:xfrm>
            <a:off x="5084064" y="1600200"/>
            <a:ext cx="2103120" cy="2606040"/>
          </a:xfrm>
          <a:prstGeom prst="roundRect">
            <a:avLst>
              <a:gd name="adj" fmla="val 5217"/>
            </a:avLst>
          </a:prstGeom>
          <a:solidFill>
            <a:srgbClr val="F7F7FB"/>
          </a:solidFill>
          <a:ln w="12700">
            <a:solidFill>
              <a:srgbClr val="E5E7EB"/>
            </a:solidFill>
            <a:prstDash val="solid"/>
          </a:ln>
          <a:effectLst>
            <a:outerShdw sx="100000" sy="100000" kx="0" ky="0" algn="bl" rotWithShape="0" blurRad="101600" dist="25400" dir="5400000">
              <a:srgbClr val="000000">
                <a:alpha val="12000"/>
              </a:srgbClr>
            </a:outerShdw>
          </a:effectLst>
        </p:spPr>
      </p:sp>
      <p:sp>
        <p:nvSpPr>
          <p:cNvPr id="17" name="Shape 13"/>
          <p:cNvSpPr/>
          <p:nvPr/>
        </p:nvSpPr>
        <p:spPr>
          <a:xfrm>
            <a:off x="5312664" y="1828800"/>
            <a:ext cx="640080" cy="640080"/>
          </a:xfrm>
          <a:prstGeom prst="ellipse">
            <a:avLst/>
          </a:prstGeom>
          <a:solidFill>
            <a:srgbClr val="6D28D9"/>
          </a:solidFill>
          <a:ln w="12700">
            <a:solidFill>
              <a:srgbClr val="6D28D9"/>
            </a:solidFill>
            <a:prstDash val="solid"/>
          </a:ln>
        </p:spPr>
      </p:sp>
      <p:pic>
        <p:nvPicPr>
          <p:cNvPr id="18" name="Image 2" descr="preencoded.png">    </p:cNvPr>
          <p:cNvPicPr>
            <a:picLocks noChangeAspect="1"/>
          </p:cNvPicPr>
          <p:nvPr/>
        </p:nvPicPr>
        <p:blipFill>
          <a:blip r:embed="rId3"/>
          <a:stretch>
            <a:fillRect/>
          </a:stretch>
        </p:blipFill>
        <p:spPr>
          <a:xfrm>
            <a:off x="5472684" y="1988820"/>
            <a:ext cx="320040" cy="320040"/>
          </a:xfrm>
          <a:prstGeom prst="rect">
            <a:avLst/>
          </a:prstGeom>
        </p:spPr>
      </p:pic>
      <p:sp>
        <p:nvSpPr>
          <p:cNvPr id="19" name="Text 14"/>
          <p:cNvSpPr txBox="1"/>
          <p:nvPr/>
        </p:nvSpPr>
        <p:spPr>
          <a:xfrm>
            <a:off x="5312664" y="2606040"/>
            <a:ext cx="1737360" cy="411480"/>
          </a:xfrm>
          <a:prstGeom prst="rect">
            <a:avLst/>
          </a:prstGeom>
          <a:noFill/>
          <a:ln/>
        </p:spPr>
        <p:txBody>
          <a:bodyPr wrap="square" lIns="0" tIns="0" rIns="0" bIns="0" rtlCol="0" anchor="ctr"/>
          <a:lstStyle/>
          <a:p>
            <a:pPr indent="0" marL="0">
              <a:buNone/>
            </a:pPr>
            <a:r>
              <a:rPr lang="en-US" sz="1700" b="1" dirty="0">
                <a:solidFill>
                  <a:srgbClr val="111827"/>
                </a:solidFill>
                <a:latin typeface="Arial" pitchFamily="34" charset="0"/>
                <a:ea typeface="Arial" pitchFamily="34" charset="-122"/>
                <a:cs typeface="Arial" pitchFamily="34" charset="-120"/>
              </a:rPr>
              <a:t>3  Grade</a:t>
            </a:r>
            <a:endParaRPr lang="en-US" sz="1700" dirty="0"/>
          </a:p>
        </p:txBody>
      </p:sp>
      <p:sp>
        <p:nvSpPr>
          <p:cNvPr id="20" name="Text 15"/>
          <p:cNvSpPr txBox="1"/>
          <p:nvPr/>
        </p:nvSpPr>
        <p:spPr>
          <a:xfrm>
            <a:off x="5312664" y="3044952"/>
            <a:ext cx="1691640" cy="1371600"/>
          </a:xfrm>
          <a:prstGeom prst="rect">
            <a:avLst/>
          </a:prstGeom>
          <a:noFill/>
          <a:ln/>
        </p:spPr>
        <p:txBody>
          <a:bodyPr wrap="square" lIns="0" tIns="0" rIns="0" bIns="0" rtlCol="0" anchor="t"/>
          <a:lstStyle/>
          <a:p>
            <a:pPr indent="0" marL="0">
              <a:buNone/>
            </a:pPr>
            <a:r>
              <a:rPr lang="en-US" sz="1250" dirty="0">
                <a:solidFill>
                  <a:srgbClr val="374151"/>
                </a:solidFill>
                <a:latin typeface="Calibri" pitchFamily="34" charset="0"/>
                <a:ea typeface="Calibri" pitchFamily="34" charset="-122"/>
                <a:cs typeface="Calibri" pitchFamily="34" charset="-120"/>
              </a:rPr>
              <a:t>STRONG: shared personal ID, or same surveyor as confirmed fraud. WEAK: only the garage or the story.</a:t>
            </a:r>
            <a:endParaRPr lang="en-US" sz="1250" dirty="0"/>
          </a:p>
        </p:txBody>
      </p:sp>
      <p:sp>
        <p:nvSpPr>
          <p:cNvPr id="21" name="Text 16"/>
          <p:cNvSpPr txBox="1"/>
          <p:nvPr/>
        </p:nvSpPr>
        <p:spPr>
          <a:xfrm>
            <a:off x="7168896" y="2697480"/>
            <a:ext cx="201168" cy="457200"/>
          </a:xfrm>
          <a:prstGeom prst="rect">
            <a:avLst/>
          </a:prstGeom>
          <a:noFill/>
          <a:ln/>
        </p:spPr>
        <p:txBody>
          <a:bodyPr wrap="square" lIns="0" tIns="0" rIns="0" bIns="0" rtlCol="0" anchor="ctr"/>
          <a:lstStyle/>
          <a:p>
            <a:pPr algn="ctr" indent="0" marL="0">
              <a:buNone/>
            </a:pPr>
            <a:r>
              <a:rPr lang="en-US" sz="2200" b="1" dirty="0">
                <a:solidFill>
                  <a:srgbClr val="6D28D9"/>
                </a:solidFill>
                <a:latin typeface="Arial" pitchFamily="34" charset="0"/>
                <a:ea typeface="Arial" pitchFamily="34" charset="-122"/>
                <a:cs typeface="Arial" pitchFamily="34" charset="-120"/>
              </a:rPr>
              <a:t>›</a:t>
            </a:r>
            <a:endParaRPr lang="en-US" sz="2200" dirty="0"/>
          </a:p>
        </p:txBody>
      </p:sp>
      <p:sp>
        <p:nvSpPr>
          <p:cNvPr id="22" name="Shape 17"/>
          <p:cNvSpPr/>
          <p:nvPr/>
        </p:nvSpPr>
        <p:spPr>
          <a:xfrm>
            <a:off x="7351776" y="1600200"/>
            <a:ext cx="2103120" cy="2606040"/>
          </a:xfrm>
          <a:prstGeom prst="roundRect">
            <a:avLst>
              <a:gd name="adj" fmla="val 5217"/>
            </a:avLst>
          </a:prstGeom>
          <a:solidFill>
            <a:srgbClr val="F7F7FB"/>
          </a:solidFill>
          <a:ln w="12700">
            <a:solidFill>
              <a:srgbClr val="E5E7EB"/>
            </a:solidFill>
            <a:prstDash val="solid"/>
          </a:ln>
          <a:effectLst>
            <a:outerShdw sx="100000" sy="100000" kx="0" ky="0" algn="bl" rotWithShape="0" blurRad="101600" dist="25400" dir="5400000">
              <a:srgbClr val="000000">
                <a:alpha val="12000"/>
              </a:srgbClr>
            </a:outerShdw>
          </a:effectLst>
        </p:spPr>
      </p:sp>
      <p:sp>
        <p:nvSpPr>
          <p:cNvPr id="23" name="Shape 18"/>
          <p:cNvSpPr/>
          <p:nvPr/>
        </p:nvSpPr>
        <p:spPr>
          <a:xfrm>
            <a:off x="7580376" y="1828800"/>
            <a:ext cx="640080" cy="640080"/>
          </a:xfrm>
          <a:prstGeom prst="ellipse">
            <a:avLst/>
          </a:prstGeom>
          <a:solidFill>
            <a:srgbClr val="6D28D9"/>
          </a:solidFill>
          <a:ln w="12700">
            <a:solidFill>
              <a:srgbClr val="6D28D9"/>
            </a:solidFill>
            <a:prstDash val="solid"/>
          </a:ln>
        </p:spPr>
      </p:sp>
      <p:pic>
        <p:nvPicPr>
          <p:cNvPr id="24" name="Image 3" descr="preencoded.png">    </p:cNvPr>
          <p:cNvPicPr>
            <a:picLocks noChangeAspect="1"/>
          </p:cNvPicPr>
          <p:nvPr/>
        </p:nvPicPr>
        <p:blipFill>
          <a:blip r:embed="rId4"/>
          <a:stretch>
            <a:fillRect/>
          </a:stretch>
        </p:blipFill>
        <p:spPr>
          <a:xfrm>
            <a:off x="7740396" y="1988820"/>
            <a:ext cx="320040" cy="320040"/>
          </a:xfrm>
          <a:prstGeom prst="rect">
            <a:avLst/>
          </a:prstGeom>
        </p:spPr>
      </p:pic>
      <p:sp>
        <p:nvSpPr>
          <p:cNvPr id="25" name="Text 19"/>
          <p:cNvSpPr txBox="1"/>
          <p:nvPr/>
        </p:nvSpPr>
        <p:spPr>
          <a:xfrm>
            <a:off x="7580376" y="2606040"/>
            <a:ext cx="1737360" cy="411480"/>
          </a:xfrm>
          <a:prstGeom prst="rect">
            <a:avLst/>
          </a:prstGeom>
          <a:noFill/>
          <a:ln/>
        </p:spPr>
        <p:txBody>
          <a:bodyPr wrap="square" lIns="0" tIns="0" rIns="0" bIns="0" rtlCol="0" anchor="ctr"/>
          <a:lstStyle/>
          <a:p>
            <a:pPr indent="0" marL="0">
              <a:buNone/>
            </a:pPr>
            <a:r>
              <a:rPr lang="en-US" sz="1700" b="1" dirty="0">
                <a:solidFill>
                  <a:srgbClr val="111827"/>
                </a:solidFill>
                <a:latin typeface="Arial" pitchFamily="34" charset="0"/>
                <a:ea typeface="Arial" pitchFamily="34" charset="-122"/>
                <a:cs typeface="Arial" pitchFamily="34" charset="-120"/>
              </a:rPr>
              <a:t>4  Score twice</a:t>
            </a:r>
            <a:endParaRPr lang="en-US" sz="1700" dirty="0"/>
          </a:p>
        </p:txBody>
      </p:sp>
      <p:sp>
        <p:nvSpPr>
          <p:cNvPr id="26" name="Text 20"/>
          <p:cNvSpPr txBox="1"/>
          <p:nvPr/>
        </p:nvSpPr>
        <p:spPr>
          <a:xfrm>
            <a:off x="7580376" y="3044952"/>
            <a:ext cx="1691640" cy="1371600"/>
          </a:xfrm>
          <a:prstGeom prst="rect">
            <a:avLst/>
          </a:prstGeom>
          <a:noFill/>
          <a:ln/>
        </p:spPr>
        <p:txBody>
          <a:bodyPr wrap="square" lIns="0" tIns="0" rIns="0" bIns="0" rtlCol="0" anchor="t"/>
          <a:lstStyle/>
          <a:p>
            <a:pPr indent="0" marL="0">
              <a:buNone/>
            </a:pPr>
            <a:r>
              <a:rPr lang="en-US" sz="1250" dirty="0">
                <a:solidFill>
                  <a:srgbClr val="374151"/>
                </a:solidFill>
                <a:latin typeface="Calibri" pitchFamily="34" charset="0"/>
                <a:ea typeface="Calibri" pitchFamily="34" charset="-122"/>
                <a:cs typeface="Calibri" pitchFamily="34" charset="-120"/>
              </a:rPr>
              <a:t>Same model, same prompt: claim alone vs claim + graded memory. Citations checked.</a:t>
            </a:r>
            <a:endParaRPr lang="en-US" sz="1250" dirty="0"/>
          </a:p>
        </p:txBody>
      </p:sp>
      <p:sp>
        <p:nvSpPr>
          <p:cNvPr id="27" name="Text 21"/>
          <p:cNvSpPr txBox="1"/>
          <p:nvPr/>
        </p:nvSpPr>
        <p:spPr>
          <a:xfrm>
            <a:off x="9436608" y="2697480"/>
            <a:ext cx="201168" cy="457200"/>
          </a:xfrm>
          <a:prstGeom prst="rect">
            <a:avLst/>
          </a:prstGeom>
          <a:noFill/>
          <a:ln/>
        </p:spPr>
        <p:txBody>
          <a:bodyPr wrap="square" lIns="0" tIns="0" rIns="0" bIns="0" rtlCol="0" anchor="ctr"/>
          <a:lstStyle/>
          <a:p>
            <a:pPr algn="ctr" indent="0" marL="0">
              <a:buNone/>
            </a:pPr>
            <a:r>
              <a:rPr lang="en-US" sz="2200" b="1" dirty="0">
                <a:solidFill>
                  <a:srgbClr val="6D28D9"/>
                </a:solidFill>
                <a:latin typeface="Arial" pitchFamily="34" charset="0"/>
                <a:ea typeface="Arial" pitchFamily="34" charset="-122"/>
                <a:cs typeface="Arial" pitchFamily="34" charset="-120"/>
              </a:rPr>
              <a:t>›</a:t>
            </a:r>
            <a:endParaRPr lang="en-US" sz="2200" dirty="0"/>
          </a:p>
        </p:txBody>
      </p:sp>
      <p:sp>
        <p:nvSpPr>
          <p:cNvPr id="28" name="Shape 22"/>
          <p:cNvSpPr/>
          <p:nvPr/>
        </p:nvSpPr>
        <p:spPr>
          <a:xfrm>
            <a:off x="9619488" y="1600200"/>
            <a:ext cx="2103120" cy="2606040"/>
          </a:xfrm>
          <a:prstGeom prst="roundRect">
            <a:avLst>
              <a:gd name="adj" fmla="val 5217"/>
            </a:avLst>
          </a:prstGeom>
          <a:solidFill>
            <a:srgbClr val="F6F3FF"/>
          </a:solidFill>
          <a:ln w="12700">
            <a:solidFill>
              <a:srgbClr val="C4B5FD"/>
            </a:solidFill>
            <a:prstDash val="solid"/>
          </a:ln>
          <a:effectLst>
            <a:outerShdw sx="100000" sy="100000" kx="0" ky="0" algn="bl" rotWithShape="0" blurRad="101600" dist="25400" dir="5400000">
              <a:srgbClr val="000000">
                <a:alpha val="12000"/>
              </a:srgbClr>
            </a:outerShdw>
          </a:effectLst>
        </p:spPr>
      </p:sp>
      <p:sp>
        <p:nvSpPr>
          <p:cNvPr id="29" name="Shape 23"/>
          <p:cNvSpPr/>
          <p:nvPr/>
        </p:nvSpPr>
        <p:spPr>
          <a:xfrm>
            <a:off x="9848088" y="1828800"/>
            <a:ext cx="640080" cy="640080"/>
          </a:xfrm>
          <a:prstGeom prst="ellipse">
            <a:avLst/>
          </a:prstGeom>
          <a:solidFill>
            <a:srgbClr val="B91C1C"/>
          </a:solidFill>
          <a:ln w="12700">
            <a:solidFill>
              <a:srgbClr val="B91C1C"/>
            </a:solidFill>
            <a:prstDash val="solid"/>
          </a:ln>
        </p:spPr>
      </p:sp>
      <p:pic>
        <p:nvPicPr>
          <p:cNvPr id="30" name="Image 4" descr="preencoded.png">    </p:cNvPr>
          <p:cNvPicPr>
            <a:picLocks noChangeAspect="1"/>
          </p:cNvPicPr>
          <p:nvPr/>
        </p:nvPicPr>
        <p:blipFill>
          <a:blip r:embed="rId5"/>
          <a:stretch>
            <a:fillRect/>
          </a:stretch>
        </p:blipFill>
        <p:spPr>
          <a:xfrm>
            <a:off x="10008108" y="1988820"/>
            <a:ext cx="320040" cy="320040"/>
          </a:xfrm>
          <a:prstGeom prst="rect">
            <a:avLst/>
          </a:prstGeom>
        </p:spPr>
      </p:pic>
      <p:sp>
        <p:nvSpPr>
          <p:cNvPr id="31" name="Text 24"/>
          <p:cNvSpPr txBox="1"/>
          <p:nvPr/>
        </p:nvSpPr>
        <p:spPr>
          <a:xfrm>
            <a:off x="9848088" y="2606040"/>
            <a:ext cx="1737360" cy="411480"/>
          </a:xfrm>
          <a:prstGeom prst="rect">
            <a:avLst/>
          </a:prstGeom>
          <a:noFill/>
          <a:ln/>
        </p:spPr>
        <p:txBody>
          <a:bodyPr wrap="square" lIns="0" tIns="0" rIns="0" bIns="0" rtlCol="0" anchor="ctr"/>
          <a:lstStyle/>
          <a:p>
            <a:pPr indent="0" marL="0">
              <a:buNone/>
            </a:pPr>
            <a:r>
              <a:rPr lang="en-US" sz="1700" b="1" dirty="0">
                <a:solidFill>
                  <a:srgbClr val="111827"/>
                </a:solidFill>
                <a:latin typeface="Arial" pitchFamily="34" charset="0"/>
                <a:ea typeface="Arial" pitchFamily="34" charset="-122"/>
                <a:cs typeface="Arial" pitchFamily="34" charset="-120"/>
              </a:rPr>
              <a:t>5  Learn</a:t>
            </a:r>
            <a:endParaRPr lang="en-US" sz="1700" dirty="0"/>
          </a:p>
        </p:txBody>
      </p:sp>
      <p:sp>
        <p:nvSpPr>
          <p:cNvPr id="32" name="Text 25"/>
          <p:cNvSpPr txBox="1"/>
          <p:nvPr/>
        </p:nvSpPr>
        <p:spPr>
          <a:xfrm>
            <a:off x="9848088" y="3044952"/>
            <a:ext cx="1691640" cy="1371600"/>
          </a:xfrm>
          <a:prstGeom prst="rect">
            <a:avLst/>
          </a:prstGeom>
          <a:noFill/>
          <a:ln/>
        </p:spPr>
        <p:txBody>
          <a:bodyPr wrap="square" lIns="0" tIns="0" rIns="0" bIns="0" rtlCol="0" anchor="t"/>
          <a:lstStyle/>
          <a:p>
            <a:pPr indent="0" marL="0">
              <a:buNone/>
            </a:pPr>
            <a:r>
              <a:rPr lang="en-US" sz="1250" dirty="0">
                <a:solidFill>
                  <a:srgbClr val="374151"/>
                </a:solidFill>
                <a:latin typeface="Calibri" pitchFamily="34" charset="0"/>
                <a:ea typeface="Calibri" pitchFamily="34" charset="-122"/>
                <a:cs typeface="Calibri" pitchFamily="34" charset="-120"/>
              </a:rPr>
              <a:t>Investigator confirms or clears: the outcome is retained, and the next claim uses it</a:t>
            </a:r>
            <a:endParaRPr lang="en-US" sz="1250" dirty="0"/>
          </a:p>
        </p:txBody>
      </p:sp>
      <p:sp>
        <p:nvSpPr>
          <p:cNvPr id="33" name="Shape 26"/>
          <p:cNvSpPr/>
          <p:nvPr/>
        </p:nvSpPr>
        <p:spPr>
          <a:xfrm>
            <a:off x="548640" y="4526280"/>
            <a:ext cx="11064240" cy="1325880"/>
          </a:xfrm>
          <a:prstGeom prst="roundRect">
            <a:avLst>
              <a:gd name="adj" fmla="val 8276"/>
            </a:avLst>
          </a:prstGeom>
          <a:solidFill>
            <a:srgbClr val="1E1B4B"/>
          </a:solidFill>
          <a:ln w="12700">
            <a:solidFill>
              <a:srgbClr val="1E1B4B"/>
            </a:solidFill>
            <a:prstDash val="solid"/>
          </a:ln>
          <a:effectLst>
            <a:outerShdw sx="100000" sy="100000" kx="0" ky="0" algn="bl" rotWithShape="0" blurRad="101600" dist="25400" dir="5400000">
              <a:srgbClr val="000000">
                <a:alpha val="12000"/>
              </a:srgbClr>
            </a:outerShdw>
          </a:effectLst>
        </p:spPr>
      </p:sp>
      <p:sp>
        <p:nvSpPr>
          <p:cNvPr id="34" name="Text 27"/>
          <p:cNvSpPr txBox="1"/>
          <p:nvPr/>
        </p:nvSpPr>
        <p:spPr>
          <a:xfrm>
            <a:off x="822960" y="4663440"/>
            <a:ext cx="5486400" cy="320040"/>
          </a:xfrm>
          <a:prstGeom prst="rect">
            <a:avLst/>
          </a:prstGeom>
          <a:noFill/>
          <a:ln/>
        </p:spPr>
        <p:txBody>
          <a:bodyPr wrap="square" lIns="0" tIns="0" rIns="0" bIns="0" rtlCol="0" anchor="ctr"/>
          <a:lstStyle/>
          <a:p>
            <a:pPr indent="0" marL="0">
              <a:buNone/>
            </a:pPr>
            <a:r>
              <a:rPr lang="en-US" sz="1400" b="1" dirty="0">
                <a:solidFill>
                  <a:srgbClr val="C4B5FD"/>
                </a:solidFill>
                <a:latin typeface="Arial" pitchFamily="34" charset="0"/>
                <a:ea typeface="Arial" pitchFamily="34" charset="-122"/>
                <a:cs typeface="Arial" pitchFamily="34" charset="-120"/>
              </a:rPr>
              <a:t>Hindsight features in use</a:t>
            </a:r>
            <a:endParaRPr lang="en-US" sz="1400" dirty="0"/>
          </a:p>
        </p:txBody>
      </p:sp>
      <p:sp>
        <p:nvSpPr>
          <p:cNvPr id="35" name="Text 28"/>
          <p:cNvSpPr txBox="1"/>
          <p:nvPr/>
        </p:nvSpPr>
        <p:spPr>
          <a:xfrm>
            <a:off x="822960" y="5029200"/>
            <a:ext cx="10515600" cy="731520"/>
          </a:xfrm>
          <a:prstGeom prst="rect">
            <a:avLst/>
          </a:prstGeom>
          <a:noFill/>
          <a:ln/>
        </p:spPr>
        <p:txBody>
          <a:bodyPr wrap="square" lIns="0" tIns="0" rIns="0" bIns="0" rtlCol="0" anchor="t"/>
          <a:lstStyle/>
          <a:p>
            <a:pPr indent="0" marL="0">
              <a:buNone/>
            </a:pPr>
            <a:r>
              <a:rPr lang="en-US" sz="1450" b="1" dirty="0">
                <a:solidFill>
                  <a:srgbClr val="FFFFFF"/>
                </a:solidFill>
                <a:latin typeface="Calibri" pitchFamily="34" charset="0"/>
                <a:ea typeface="Calibri" pitchFamily="34" charset="-122"/>
                <a:cs typeface="Calibri" pitchFamily="34" charset="-120"/>
              </a:rPr>
              <a:t>retain</a:t>
            </a:r>
            <a:pPr indent="0" marL="0">
              <a:buNone/>
            </a:pPr>
            <a:r>
              <a:rPr lang="en-US" sz="1450" dirty="0">
                <a:solidFill>
                  <a:srgbClr val="DDD6FE"/>
                </a:solidFill>
                <a:latin typeface="Calibri" pitchFamily="34" charset="0"/>
                <a:ea typeface="Calibri" pitchFamily="34" charset="-122"/>
                <a:cs typeface="Calibri" pitchFamily="34" charset="-120"/>
              </a:rPr>
              <a:t> with document_id, timestamp, entities, tags  ·  </a:t>
            </a:r>
            <a:pPr indent="0" marL="0">
              <a:buNone/>
            </a:pPr>
            <a:r>
              <a:rPr lang="en-US" sz="1450" b="1" dirty="0">
                <a:solidFill>
                  <a:srgbClr val="FFFFFF"/>
                </a:solidFill>
                <a:latin typeface="Calibri" pitchFamily="34" charset="0"/>
                <a:ea typeface="Calibri" pitchFamily="34" charset="-122"/>
                <a:cs typeface="Calibri" pitchFamily="34" charset="-120"/>
              </a:rPr>
              <a:t>recall</a:t>
            </a:r>
            <a:pPr indent="0" marL="0">
              <a:buNone/>
            </a:pPr>
            <a:r>
              <a:rPr lang="en-US" sz="1450" dirty="0">
                <a:solidFill>
                  <a:srgbClr val="DDD6FE"/>
                </a:solidFill>
                <a:latin typeface="Calibri" pitchFamily="34" charset="0"/>
                <a:ea typeface="Calibri" pitchFamily="34" charset="-122"/>
                <a:cs typeface="Calibri" pitchFamily="34" charset="-120"/>
              </a:rPr>
              <a:t> any_strict / all_strict tags, reranker floor, temporal window, observations  ·  </a:t>
            </a:r>
            <a:pPr indent="0" marL="0">
              <a:buNone/>
            </a:pPr>
            <a:r>
              <a:rPr lang="en-US" sz="1450" b="1" dirty="0">
                <a:solidFill>
                  <a:srgbClr val="FFFFFF"/>
                </a:solidFill>
                <a:latin typeface="Calibri" pitchFamily="34" charset="0"/>
                <a:ea typeface="Calibri" pitchFamily="34" charset="-122"/>
                <a:cs typeface="Calibri" pitchFamily="34" charset="-120"/>
              </a:rPr>
              <a:t>reflect</a:t>
            </a:r>
            <a:pPr indent="0" marL="0">
              <a:buNone/>
            </a:pPr>
            <a:r>
              <a:rPr lang="en-US" sz="1450" dirty="0">
                <a:solidFill>
                  <a:srgbClr val="DDD6FE"/>
                </a:solidFill>
                <a:latin typeface="Calibri" pitchFamily="34" charset="0"/>
                <a:ea typeface="Calibri" pitchFamily="34" charset="-122"/>
                <a:cs typeface="Calibri" pitchFamily="34" charset="-120"/>
              </a:rPr>
              <a:t> with mission, 4 directives, disposition  ·  </a:t>
            </a:r>
            <a:pPr indent="0" marL="0">
              <a:buNone/>
            </a:pPr>
            <a:r>
              <a:rPr lang="en-US" sz="1450" b="1" dirty="0">
                <a:solidFill>
                  <a:srgbClr val="FFFFFF"/>
                </a:solidFill>
                <a:latin typeface="Calibri" pitchFamily="34" charset="0"/>
                <a:ea typeface="Calibri" pitchFamily="34" charset="-122"/>
                <a:cs typeface="Calibri" pitchFamily="34" charset="-120"/>
              </a:rPr>
              <a:t>mental model</a:t>
            </a:r>
            <a:pPr indent="0" marL="0">
              <a:buNone/>
            </a:pPr>
            <a:r>
              <a:rPr lang="en-US" sz="1450" dirty="0">
                <a:solidFill>
                  <a:srgbClr val="DDD6FE"/>
                </a:solidFill>
                <a:latin typeface="Calibri" pitchFamily="34" charset="0"/>
                <a:ea typeface="Calibri" pitchFamily="34" charset="-122"/>
                <a:cs typeface="Calibri" pitchFamily="34" charset="-120"/>
              </a:rPr>
              <a:t> SIU fraud playbook, refreshed after consolidation</a:t>
            </a:r>
            <a:endParaRPr lang="en-US" sz="1450" dirty="0"/>
          </a:p>
        </p:txBody>
      </p:sp>
      <p:sp>
        <p:nvSpPr>
          <p:cNvPr id="36" name="Text 29"/>
          <p:cNvSpPr txBox="1"/>
          <p:nvPr/>
        </p:nvSpPr>
        <p:spPr>
          <a:xfrm>
            <a:off x="548640" y="6035040"/>
            <a:ext cx="11064240" cy="320040"/>
          </a:xfrm>
          <a:prstGeom prst="rect">
            <a:avLst/>
          </a:prstGeom>
          <a:noFill/>
          <a:ln/>
        </p:spPr>
        <p:txBody>
          <a:bodyPr wrap="square" lIns="0" tIns="0" rIns="0" bIns="0"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Full write-up: docs/HINDSIGHT.md in the repo</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B"/>
        </a:solidFill>
      </p:bgPr>
    </p:bg>
    <p:spTree>
      <p:nvGrpSpPr>
        <p:cNvPr id="1" name=""/>
        <p:cNvGrpSpPr/>
        <p:nvPr/>
      </p:nvGrpSpPr>
      <p:grpSpPr>
        <a:xfrm>
          <a:off x="0" y="0"/>
          <a:ext cx="0" cy="0"/>
          <a:chOff x="0" y="0"/>
          <a:chExt cx="0" cy="0"/>
        </a:xfrm>
      </p:grpSpPr>
      <p:sp>
        <p:nvSpPr>
          <p:cNvPr id="2" name="Text 0"/>
          <p:cNvSpPr txBox="1"/>
          <p:nvPr/>
        </p:nvSpPr>
        <p:spPr>
          <a:xfrm>
            <a:off x="548640" y="182880"/>
            <a:ext cx="7315200" cy="274320"/>
          </a:xfrm>
          <a:prstGeom prst="rect">
            <a:avLst/>
          </a:prstGeom>
          <a:noFill/>
          <a:ln/>
        </p:spPr>
        <p:txBody>
          <a:bodyPr wrap="square" lIns="0" tIns="0" rIns="0" bIns="0" rtlCol="0" anchor="ctr"/>
          <a:lstStyle/>
          <a:p>
            <a:pPr indent="0" marL="0">
              <a:buNone/>
            </a:pPr>
            <a:r>
              <a:rPr lang="en-US" sz="1100" b="1" spc="300" kern="0" dirty="0">
                <a:solidFill>
                  <a:srgbClr val="6D28D9"/>
                </a:solidFill>
                <a:latin typeface="Arial" pitchFamily="34" charset="0"/>
                <a:ea typeface="Arial" pitchFamily="34" charset="-122"/>
                <a:cs typeface="Arial" pitchFamily="34" charset="-120"/>
              </a:rPr>
              <a:t>LIVE DEMO</a:t>
            </a:r>
            <a:endParaRPr lang="en-US" sz="1100" dirty="0"/>
          </a:p>
        </p:txBody>
      </p:sp>
      <p:sp>
        <p:nvSpPr>
          <p:cNvPr id="3" name="Text 1"/>
          <p:cNvSpPr txBox="1"/>
          <p:nvPr/>
        </p:nvSpPr>
        <p:spPr>
          <a:xfrm>
            <a:off x="548640" y="411480"/>
            <a:ext cx="11094415" cy="731520"/>
          </a:xfrm>
          <a:prstGeom prst="rect">
            <a:avLst/>
          </a:prstGeom>
          <a:noFill/>
          <a:ln/>
        </p:spPr>
        <p:txBody>
          <a:bodyPr wrap="square" lIns="0" tIns="0" rIns="0" bIns="0" rtlCol="0" anchor="t"/>
          <a:lstStyle/>
          <a:p>
            <a:pPr indent="0" marL="0">
              <a:buNone/>
            </a:pPr>
            <a:r>
              <a:rPr lang="en-US" sz="3000" b="1" dirty="0">
                <a:solidFill>
                  <a:srgbClr val="111827"/>
                </a:solidFill>
                <a:latin typeface="Arial" pitchFamily="34" charset="0"/>
                <a:ea typeface="Arial" pitchFamily="34" charset="-122"/>
                <a:cs typeface="Arial" pitchFamily="34" charset="-120"/>
              </a:rPr>
              <a:t>Four claims, the same model: without memory vs with Hindsight</a:t>
            </a:r>
            <a:endParaRPr lang="en-US" sz="3000" dirty="0"/>
          </a:p>
        </p:txBody>
      </p:sp>
      <p:sp>
        <p:nvSpPr>
          <p:cNvPr id="4" name="Text 2"/>
          <p:cNvSpPr txBox="1"/>
          <p:nvPr/>
        </p:nvSpPr>
        <p:spPr>
          <a:xfrm>
            <a:off x="3977640" y="1417320"/>
            <a:ext cx="1097280" cy="274320"/>
          </a:xfrm>
          <a:prstGeom prst="rect">
            <a:avLst/>
          </a:prstGeom>
          <a:noFill/>
          <a:ln/>
        </p:spPr>
        <p:txBody>
          <a:bodyPr wrap="square" lIns="0" tIns="0" rIns="0" bIns="0" rtlCol="0" anchor="ctr"/>
          <a:lstStyle/>
          <a:p>
            <a:pPr algn="ctr" indent="0" marL="0">
              <a:buNone/>
            </a:pPr>
            <a:r>
              <a:rPr lang="en-US" sz="1000" b="1" dirty="0">
                <a:solidFill>
                  <a:srgbClr val="6B7280"/>
                </a:solidFill>
                <a:latin typeface="Calibri" pitchFamily="34" charset="0"/>
                <a:ea typeface="Calibri" pitchFamily="34" charset="-122"/>
                <a:cs typeface="Calibri" pitchFamily="34" charset="-120"/>
              </a:rPr>
              <a:t>WITHOUT</a:t>
            </a:r>
            <a:endParaRPr lang="en-US" sz="1000" dirty="0"/>
          </a:p>
        </p:txBody>
      </p:sp>
      <p:sp>
        <p:nvSpPr>
          <p:cNvPr id="5" name="Text 3"/>
          <p:cNvSpPr txBox="1"/>
          <p:nvPr/>
        </p:nvSpPr>
        <p:spPr>
          <a:xfrm>
            <a:off x="5257800" y="1417320"/>
            <a:ext cx="1463040" cy="274320"/>
          </a:xfrm>
          <a:prstGeom prst="rect">
            <a:avLst/>
          </a:prstGeom>
          <a:noFill/>
          <a:ln/>
        </p:spPr>
        <p:txBody>
          <a:bodyPr wrap="square" lIns="0" tIns="0" rIns="0" bIns="0" rtlCol="0" anchor="ctr"/>
          <a:lstStyle/>
          <a:p>
            <a:pPr algn="ctr" indent="0" marL="0">
              <a:buNone/>
            </a:pPr>
            <a:r>
              <a:rPr lang="en-US" sz="1000" b="1" dirty="0">
                <a:solidFill>
                  <a:srgbClr val="6D28D9"/>
                </a:solidFill>
                <a:latin typeface="Calibri" pitchFamily="34" charset="0"/>
                <a:ea typeface="Calibri" pitchFamily="34" charset="-122"/>
                <a:cs typeface="Calibri" pitchFamily="34" charset="-120"/>
              </a:rPr>
              <a:t>WITH HINDSIGHT</a:t>
            </a:r>
            <a:endParaRPr lang="en-US" sz="1000" dirty="0"/>
          </a:p>
        </p:txBody>
      </p:sp>
      <p:sp>
        <p:nvSpPr>
          <p:cNvPr id="6" name="Shape 4"/>
          <p:cNvSpPr/>
          <p:nvPr/>
        </p:nvSpPr>
        <p:spPr>
          <a:xfrm>
            <a:off x="548640" y="1783080"/>
            <a:ext cx="11064240" cy="932688"/>
          </a:xfrm>
          <a:prstGeom prst="roundRect">
            <a:avLst>
              <a:gd name="adj" fmla="val 11765"/>
            </a:avLst>
          </a:prstGeom>
          <a:solidFill>
            <a:srgbClr val="FFFFFF"/>
          </a:solidFill>
          <a:ln w="12700">
            <a:solidFill>
              <a:srgbClr val="E5E7EB"/>
            </a:solidFill>
            <a:prstDash val="solid"/>
          </a:ln>
          <a:effectLst>
            <a:outerShdw sx="100000" sy="100000" kx="0" ky="0" algn="bl" rotWithShape="0" blurRad="101600" dist="25400" dir="5400000">
              <a:srgbClr val="000000">
                <a:alpha val="12000"/>
              </a:srgbClr>
            </a:outerShdw>
          </a:effectLst>
        </p:spPr>
      </p:sp>
      <p:sp>
        <p:nvSpPr>
          <p:cNvPr id="7" name="Text 5"/>
          <p:cNvSpPr txBox="1"/>
          <p:nvPr/>
        </p:nvSpPr>
        <p:spPr>
          <a:xfrm>
            <a:off x="777240" y="1911096"/>
            <a:ext cx="1097280" cy="365760"/>
          </a:xfrm>
          <a:prstGeom prst="rect">
            <a:avLst/>
          </a:prstGeom>
          <a:noFill/>
          <a:ln/>
        </p:spPr>
        <p:txBody>
          <a:bodyPr wrap="square" lIns="0" tIns="0" rIns="0" bIns="0" rtlCol="0" anchor="ctr"/>
          <a:lstStyle/>
          <a:p>
            <a:pPr indent="0" marL="0">
              <a:buNone/>
            </a:pPr>
            <a:r>
              <a:rPr lang="en-US" sz="1800" b="1" dirty="0">
                <a:solidFill>
                  <a:srgbClr val="111827"/>
                </a:solidFill>
                <a:latin typeface="Arial" pitchFamily="34" charset="0"/>
                <a:ea typeface="Arial" pitchFamily="34" charset="-122"/>
                <a:cs typeface="Arial" pitchFamily="34" charset="-120"/>
              </a:rPr>
              <a:t>#10595</a:t>
            </a:r>
            <a:endParaRPr lang="en-US" sz="1800" dirty="0"/>
          </a:p>
        </p:txBody>
      </p:sp>
      <p:sp>
        <p:nvSpPr>
          <p:cNvPr id="8" name="Text 6"/>
          <p:cNvSpPr txBox="1"/>
          <p:nvPr/>
        </p:nvSpPr>
        <p:spPr>
          <a:xfrm>
            <a:off x="777240" y="2258568"/>
            <a:ext cx="3108960" cy="32004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Night-time hit-and-run at Sri Balaji</a:t>
            </a:r>
            <a:endParaRPr lang="en-US" sz="1300" dirty="0"/>
          </a:p>
        </p:txBody>
      </p:sp>
      <p:sp>
        <p:nvSpPr>
          <p:cNvPr id="9" name="Shape 7"/>
          <p:cNvSpPr/>
          <p:nvPr/>
        </p:nvSpPr>
        <p:spPr>
          <a:xfrm>
            <a:off x="4114800" y="1993392"/>
            <a:ext cx="822960" cy="512064"/>
          </a:xfrm>
          <a:prstGeom prst="roundRect">
            <a:avLst>
              <a:gd name="adj" fmla="val 17857"/>
            </a:avLst>
          </a:prstGeom>
          <a:solidFill>
            <a:srgbClr val="E8F7EE"/>
          </a:solidFill>
          <a:ln w="12700">
            <a:solidFill>
              <a:srgbClr val="E8F7EE"/>
            </a:solidFill>
            <a:prstDash val="solid"/>
          </a:ln>
        </p:spPr>
      </p:sp>
      <p:sp>
        <p:nvSpPr>
          <p:cNvPr id="10" name="Text 8"/>
          <p:cNvSpPr txBox="1"/>
          <p:nvPr/>
        </p:nvSpPr>
        <p:spPr>
          <a:xfrm>
            <a:off x="4114800" y="1993392"/>
            <a:ext cx="822960" cy="512064"/>
          </a:xfrm>
          <a:prstGeom prst="rect">
            <a:avLst/>
          </a:prstGeom>
          <a:noFill/>
          <a:ln/>
        </p:spPr>
        <p:txBody>
          <a:bodyPr wrap="square" lIns="0" tIns="0" rIns="0" bIns="0" rtlCol="0" anchor="ctr"/>
          <a:lstStyle/>
          <a:p>
            <a:pPr algn="ctr" indent="0" marL="0">
              <a:buNone/>
            </a:pPr>
            <a:r>
              <a:rPr lang="en-US" sz="2000" b="1" dirty="0">
                <a:solidFill>
                  <a:srgbClr val="15803D"/>
                </a:solidFill>
                <a:latin typeface="Arial" pitchFamily="34" charset="0"/>
                <a:ea typeface="Arial" pitchFamily="34" charset="-122"/>
                <a:cs typeface="Arial" pitchFamily="34" charset="-120"/>
              </a:rPr>
              <a:t>15</a:t>
            </a:r>
            <a:endParaRPr lang="en-US" sz="2000" dirty="0"/>
          </a:p>
        </p:txBody>
      </p:sp>
      <p:sp>
        <p:nvSpPr>
          <p:cNvPr id="11" name="Text 9"/>
          <p:cNvSpPr txBox="1"/>
          <p:nvPr/>
        </p:nvSpPr>
        <p:spPr>
          <a:xfrm>
            <a:off x="4956048" y="1993392"/>
            <a:ext cx="365760" cy="512064"/>
          </a:xfrm>
          <a:prstGeom prst="rect">
            <a:avLst/>
          </a:prstGeom>
          <a:noFill/>
          <a:ln/>
        </p:spPr>
        <p:txBody>
          <a:bodyPr wrap="square" lIns="0" tIns="0" rIns="0" bIns="0" rtlCol="0" anchor="ctr"/>
          <a:lstStyle/>
          <a:p>
            <a:pPr algn="ctr" indent="0" marL="0">
              <a:buNone/>
            </a:pPr>
            <a:r>
              <a:rPr lang="en-US" sz="2000" dirty="0">
                <a:solidFill>
                  <a:srgbClr val="9CA3AF"/>
                </a:solidFill>
                <a:latin typeface="Arial" pitchFamily="34" charset="0"/>
                <a:ea typeface="Arial" pitchFamily="34" charset="-122"/>
                <a:cs typeface="Arial" pitchFamily="34" charset="-120"/>
              </a:rPr>
              <a:t>→</a:t>
            </a:r>
            <a:endParaRPr lang="en-US" sz="2000" dirty="0"/>
          </a:p>
        </p:txBody>
      </p:sp>
      <p:sp>
        <p:nvSpPr>
          <p:cNvPr id="12" name="Shape 10"/>
          <p:cNvSpPr/>
          <p:nvPr/>
        </p:nvSpPr>
        <p:spPr>
          <a:xfrm>
            <a:off x="5349240" y="1993392"/>
            <a:ext cx="1280160" cy="512064"/>
          </a:xfrm>
          <a:prstGeom prst="roundRect">
            <a:avLst>
              <a:gd name="adj" fmla="val 17857"/>
            </a:avLst>
          </a:prstGeom>
          <a:solidFill>
            <a:srgbClr val="FDECEC"/>
          </a:solidFill>
          <a:ln w="12700">
            <a:solidFill>
              <a:srgbClr val="F3B0B0"/>
            </a:solidFill>
            <a:prstDash val="solid"/>
          </a:ln>
        </p:spPr>
      </p:sp>
      <p:sp>
        <p:nvSpPr>
          <p:cNvPr id="13" name="Text 11"/>
          <p:cNvSpPr txBox="1"/>
          <p:nvPr/>
        </p:nvSpPr>
        <p:spPr>
          <a:xfrm>
            <a:off x="5349240" y="1993392"/>
            <a:ext cx="1280160" cy="512064"/>
          </a:xfrm>
          <a:prstGeom prst="rect">
            <a:avLst/>
          </a:prstGeom>
          <a:noFill/>
          <a:ln/>
        </p:spPr>
        <p:txBody>
          <a:bodyPr wrap="square" lIns="0" tIns="0" rIns="0" bIns="0" rtlCol="0" anchor="ctr"/>
          <a:lstStyle/>
          <a:p>
            <a:pPr algn="ctr" indent="0" marL="0">
              <a:buNone/>
            </a:pPr>
            <a:r>
              <a:rPr lang="en-US" sz="2000" b="1" dirty="0">
                <a:solidFill>
                  <a:srgbClr val="B91C1C"/>
                </a:solidFill>
                <a:latin typeface="Arial" pitchFamily="34" charset="0"/>
                <a:ea typeface="Arial" pitchFamily="34" charset="-122"/>
                <a:cs typeface="Arial" pitchFamily="34" charset="-120"/>
              </a:rPr>
              <a:t>87</a:t>
            </a:r>
            <a:pPr algn="ctr" indent="0" marL="0">
              <a:buNone/>
            </a:pPr>
            <a:r>
              <a:rPr lang="en-US" sz="1100" dirty="0">
                <a:solidFill>
                  <a:srgbClr val="B91C1C"/>
                </a:solidFill>
                <a:latin typeface="Arial" pitchFamily="34" charset="0"/>
                <a:ea typeface="Arial" pitchFamily="34" charset="-122"/>
                <a:cs typeface="Arial" pitchFamily="34" charset="-120"/>
              </a:rPr>
              <a:t>  SIU</a:t>
            </a:r>
            <a:endParaRPr lang="en-US" sz="2000" dirty="0"/>
          </a:p>
        </p:txBody>
      </p:sp>
      <p:sp>
        <p:nvSpPr>
          <p:cNvPr id="14" name="Text 12"/>
          <p:cNvSpPr txBox="1"/>
          <p:nvPr/>
        </p:nvSpPr>
        <p:spPr>
          <a:xfrm>
            <a:off x="6903720" y="1892808"/>
            <a:ext cx="4526280" cy="731520"/>
          </a:xfrm>
          <a:prstGeom prst="rect">
            <a:avLst/>
          </a:prstGeom>
          <a:noFill/>
          <a:ln/>
        </p:spPr>
        <p:txBody>
          <a:bodyPr wrap="square" lIns="0" tIns="0" rIns="0" bIns="0" rtlCol="0" anchor="ctr"/>
          <a:lstStyle/>
          <a:p>
            <a:pPr indent="0" marL="0">
              <a:buNone/>
            </a:pPr>
            <a:r>
              <a:rPr lang="en-US" sz="1300" dirty="0">
                <a:solidFill>
                  <a:srgbClr val="374151"/>
                </a:solidFill>
                <a:latin typeface="Calibri" pitchFamily="34" charset="0"/>
                <a:ea typeface="Calibri" pitchFamily="34" charset="-122"/>
                <a:cs typeface="Calibri" pitchFamily="34" charset="-120"/>
              </a:rPr>
              <a:t>Payee account on repudiated #10566, phone on repudiated #10572, same surveyor</a:t>
            </a:r>
            <a:endParaRPr lang="en-US" sz="1300" dirty="0"/>
          </a:p>
        </p:txBody>
      </p:sp>
      <p:sp>
        <p:nvSpPr>
          <p:cNvPr id="15" name="Shape 13"/>
          <p:cNvSpPr/>
          <p:nvPr/>
        </p:nvSpPr>
        <p:spPr>
          <a:xfrm>
            <a:off x="548640" y="2862072"/>
            <a:ext cx="11064240" cy="932688"/>
          </a:xfrm>
          <a:prstGeom prst="roundRect">
            <a:avLst>
              <a:gd name="adj" fmla="val 11765"/>
            </a:avLst>
          </a:prstGeom>
          <a:solidFill>
            <a:srgbClr val="FFFFFF"/>
          </a:solidFill>
          <a:ln w="12700">
            <a:solidFill>
              <a:srgbClr val="E5E7EB"/>
            </a:solidFill>
            <a:prstDash val="solid"/>
          </a:ln>
          <a:effectLst>
            <a:outerShdw sx="100000" sy="100000" kx="0" ky="0" algn="bl" rotWithShape="0" blurRad="101600" dist="25400" dir="5400000">
              <a:srgbClr val="000000">
                <a:alpha val="12000"/>
              </a:srgbClr>
            </a:outerShdw>
          </a:effectLst>
        </p:spPr>
      </p:sp>
      <p:sp>
        <p:nvSpPr>
          <p:cNvPr id="16" name="Text 14"/>
          <p:cNvSpPr txBox="1"/>
          <p:nvPr/>
        </p:nvSpPr>
        <p:spPr>
          <a:xfrm>
            <a:off x="777240" y="2990088"/>
            <a:ext cx="1097280" cy="365760"/>
          </a:xfrm>
          <a:prstGeom prst="rect">
            <a:avLst/>
          </a:prstGeom>
          <a:noFill/>
          <a:ln/>
        </p:spPr>
        <p:txBody>
          <a:bodyPr wrap="square" lIns="0" tIns="0" rIns="0" bIns="0" rtlCol="0" anchor="ctr"/>
          <a:lstStyle/>
          <a:p>
            <a:pPr indent="0" marL="0">
              <a:buNone/>
            </a:pPr>
            <a:r>
              <a:rPr lang="en-US" sz="1800" b="1" dirty="0">
                <a:solidFill>
                  <a:srgbClr val="111827"/>
                </a:solidFill>
                <a:latin typeface="Arial" pitchFamily="34" charset="0"/>
                <a:ea typeface="Arial" pitchFamily="34" charset="-122"/>
                <a:cs typeface="Arial" pitchFamily="34" charset="-120"/>
              </a:rPr>
              <a:t>#10606</a:t>
            </a:r>
            <a:endParaRPr lang="en-US" sz="1800" dirty="0"/>
          </a:p>
        </p:txBody>
      </p:sp>
      <p:sp>
        <p:nvSpPr>
          <p:cNvPr id="17" name="Text 15"/>
          <p:cNvSpPr txBox="1"/>
          <p:nvPr/>
        </p:nvSpPr>
        <p:spPr>
          <a:xfrm>
            <a:off x="777240" y="3337560"/>
            <a:ext cx="3108960" cy="32004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Same ring, 9 days later</a:t>
            </a:r>
            <a:endParaRPr lang="en-US" sz="1300" dirty="0"/>
          </a:p>
        </p:txBody>
      </p:sp>
      <p:sp>
        <p:nvSpPr>
          <p:cNvPr id="18" name="Shape 16"/>
          <p:cNvSpPr/>
          <p:nvPr/>
        </p:nvSpPr>
        <p:spPr>
          <a:xfrm>
            <a:off x="4114800" y="3072384"/>
            <a:ext cx="822960" cy="512064"/>
          </a:xfrm>
          <a:prstGeom prst="roundRect">
            <a:avLst>
              <a:gd name="adj" fmla="val 17857"/>
            </a:avLst>
          </a:prstGeom>
          <a:solidFill>
            <a:srgbClr val="E8F7EE"/>
          </a:solidFill>
          <a:ln w="12700">
            <a:solidFill>
              <a:srgbClr val="E8F7EE"/>
            </a:solidFill>
            <a:prstDash val="solid"/>
          </a:ln>
        </p:spPr>
      </p:sp>
      <p:sp>
        <p:nvSpPr>
          <p:cNvPr id="19" name="Text 17"/>
          <p:cNvSpPr txBox="1"/>
          <p:nvPr/>
        </p:nvSpPr>
        <p:spPr>
          <a:xfrm>
            <a:off x="4114800" y="3072384"/>
            <a:ext cx="822960" cy="512064"/>
          </a:xfrm>
          <a:prstGeom prst="rect">
            <a:avLst/>
          </a:prstGeom>
          <a:noFill/>
          <a:ln/>
        </p:spPr>
        <p:txBody>
          <a:bodyPr wrap="square" lIns="0" tIns="0" rIns="0" bIns="0" rtlCol="0" anchor="ctr"/>
          <a:lstStyle/>
          <a:p>
            <a:pPr algn="ctr" indent="0" marL="0">
              <a:buNone/>
            </a:pPr>
            <a:r>
              <a:rPr lang="en-US" sz="2000" b="1" dirty="0">
                <a:solidFill>
                  <a:srgbClr val="15803D"/>
                </a:solidFill>
                <a:latin typeface="Arial" pitchFamily="34" charset="0"/>
                <a:ea typeface="Arial" pitchFamily="34" charset="-122"/>
                <a:cs typeface="Arial" pitchFamily="34" charset="-120"/>
              </a:rPr>
              <a:t>15</a:t>
            </a:r>
            <a:endParaRPr lang="en-US" sz="2000" dirty="0"/>
          </a:p>
        </p:txBody>
      </p:sp>
      <p:sp>
        <p:nvSpPr>
          <p:cNvPr id="20" name="Text 18"/>
          <p:cNvSpPr txBox="1"/>
          <p:nvPr/>
        </p:nvSpPr>
        <p:spPr>
          <a:xfrm>
            <a:off x="4956048" y="3072384"/>
            <a:ext cx="365760" cy="512064"/>
          </a:xfrm>
          <a:prstGeom prst="rect">
            <a:avLst/>
          </a:prstGeom>
          <a:noFill/>
          <a:ln/>
        </p:spPr>
        <p:txBody>
          <a:bodyPr wrap="square" lIns="0" tIns="0" rIns="0" bIns="0" rtlCol="0" anchor="ctr"/>
          <a:lstStyle/>
          <a:p>
            <a:pPr algn="ctr" indent="0" marL="0">
              <a:buNone/>
            </a:pPr>
            <a:r>
              <a:rPr lang="en-US" sz="2000" dirty="0">
                <a:solidFill>
                  <a:srgbClr val="9CA3AF"/>
                </a:solidFill>
                <a:latin typeface="Arial" pitchFamily="34" charset="0"/>
                <a:ea typeface="Arial" pitchFamily="34" charset="-122"/>
                <a:cs typeface="Arial" pitchFamily="34" charset="-120"/>
              </a:rPr>
              <a:t>→</a:t>
            </a:r>
            <a:endParaRPr lang="en-US" sz="2000" dirty="0"/>
          </a:p>
        </p:txBody>
      </p:sp>
      <p:sp>
        <p:nvSpPr>
          <p:cNvPr id="21" name="Shape 19"/>
          <p:cNvSpPr/>
          <p:nvPr/>
        </p:nvSpPr>
        <p:spPr>
          <a:xfrm>
            <a:off x="5349240" y="3072384"/>
            <a:ext cx="1280160" cy="512064"/>
          </a:xfrm>
          <a:prstGeom prst="roundRect">
            <a:avLst>
              <a:gd name="adj" fmla="val 17857"/>
            </a:avLst>
          </a:prstGeom>
          <a:solidFill>
            <a:srgbClr val="FDECEC"/>
          </a:solidFill>
          <a:ln w="12700">
            <a:solidFill>
              <a:srgbClr val="F3B0B0"/>
            </a:solidFill>
            <a:prstDash val="solid"/>
          </a:ln>
        </p:spPr>
      </p:sp>
      <p:sp>
        <p:nvSpPr>
          <p:cNvPr id="22" name="Text 20"/>
          <p:cNvSpPr txBox="1"/>
          <p:nvPr/>
        </p:nvSpPr>
        <p:spPr>
          <a:xfrm>
            <a:off x="5349240" y="3072384"/>
            <a:ext cx="1280160" cy="512064"/>
          </a:xfrm>
          <a:prstGeom prst="rect">
            <a:avLst/>
          </a:prstGeom>
          <a:noFill/>
          <a:ln/>
        </p:spPr>
        <p:txBody>
          <a:bodyPr wrap="square" lIns="0" tIns="0" rIns="0" bIns="0" rtlCol="0" anchor="ctr"/>
          <a:lstStyle/>
          <a:p>
            <a:pPr algn="ctr" indent="0" marL="0">
              <a:buNone/>
            </a:pPr>
            <a:r>
              <a:rPr lang="en-US" sz="2000" b="1" dirty="0">
                <a:solidFill>
                  <a:srgbClr val="B91C1C"/>
                </a:solidFill>
                <a:latin typeface="Arial" pitchFamily="34" charset="0"/>
                <a:ea typeface="Arial" pitchFamily="34" charset="-122"/>
                <a:cs typeface="Arial" pitchFamily="34" charset="-120"/>
              </a:rPr>
              <a:t>85</a:t>
            </a:r>
            <a:pPr algn="ctr" indent="0" marL="0">
              <a:buNone/>
            </a:pPr>
            <a:r>
              <a:rPr lang="en-US" sz="1100" dirty="0">
                <a:solidFill>
                  <a:srgbClr val="B91C1C"/>
                </a:solidFill>
                <a:latin typeface="Arial" pitchFamily="34" charset="0"/>
                <a:ea typeface="Arial" pitchFamily="34" charset="-122"/>
                <a:cs typeface="Arial" pitchFamily="34" charset="-120"/>
              </a:rPr>
              <a:t>  SIU</a:t>
            </a:r>
            <a:endParaRPr lang="en-US" sz="2000" dirty="0"/>
          </a:p>
        </p:txBody>
      </p:sp>
      <p:sp>
        <p:nvSpPr>
          <p:cNvPr id="23" name="Text 21"/>
          <p:cNvSpPr txBox="1"/>
          <p:nvPr/>
        </p:nvSpPr>
        <p:spPr>
          <a:xfrm>
            <a:off x="6903720" y="2971800"/>
            <a:ext cx="4526280" cy="731520"/>
          </a:xfrm>
          <a:prstGeom prst="rect">
            <a:avLst/>
          </a:prstGeom>
          <a:noFill/>
          <a:ln/>
        </p:spPr>
        <p:txBody>
          <a:bodyPr wrap="square" lIns="0" tIns="0" rIns="0" bIns="0" rtlCol="0" anchor="ctr"/>
          <a:lstStyle/>
          <a:p>
            <a:pPr indent="0" marL="0">
              <a:buNone/>
            </a:pPr>
            <a:r>
              <a:rPr lang="en-US" sz="1300" dirty="0">
                <a:solidFill>
                  <a:srgbClr val="374151"/>
                </a:solidFill>
                <a:latin typeface="Calibri" pitchFamily="34" charset="0"/>
                <a:ea typeface="Calibri" pitchFamily="34" charset="-122"/>
                <a:cs typeface="Calibri" pitchFamily="34" charset="-120"/>
              </a:rPr>
              <a:t>After #10595 is confirmed live, its outcome appears in the evidence. One retain, no retraining.</a:t>
            </a:r>
            <a:endParaRPr lang="en-US" sz="1300" dirty="0"/>
          </a:p>
        </p:txBody>
      </p:sp>
      <p:sp>
        <p:nvSpPr>
          <p:cNvPr id="24" name="Shape 22"/>
          <p:cNvSpPr/>
          <p:nvPr/>
        </p:nvSpPr>
        <p:spPr>
          <a:xfrm>
            <a:off x="548640" y="3941064"/>
            <a:ext cx="11064240" cy="932688"/>
          </a:xfrm>
          <a:prstGeom prst="roundRect">
            <a:avLst>
              <a:gd name="adj" fmla="val 11765"/>
            </a:avLst>
          </a:prstGeom>
          <a:solidFill>
            <a:srgbClr val="FFFFFF"/>
          </a:solidFill>
          <a:ln w="12700">
            <a:solidFill>
              <a:srgbClr val="E5E7EB"/>
            </a:solidFill>
            <a:prstDash val="solid"/>
          </a:ln>
          <a:effectLst>
            <a:outerShdw sx="100000" sy="100000" kx="0" ky="0" algn="bl" rotWithShape="0" blurRad="101600" dist="25400" dir="5400000">
              <a:srgbClr val="000000">
                <a:alpha val="12000"/>
              </a:srgbClr>
            </a:outerShdw>
          </a:effectLst>
        </p:spPr>
      </p:sp>
      <p:sp>
        <p:nvSpPr>
          <p:cNvPr id="25" name="Text 23"/>
          <p:cNvSpPr txBox="1"/>
          <p:nvPr/>
        </p:nvSpPr>
        <p:spPr>
          <a:xfrm>
            <a:off x="777240" y="4069080"/>
            <a:ext cx="1097280" cy="365760"/>
          </a:xfrm>
          <a:prstGeom prst="rect">
            <a:avLst/>
          </a:prstGeom>
          <a:noFill/>
          <a:ln/>
        </p:spPr>
        <p:txBody>
          <a:bodyPr wrap="square" lIns="0" tIns="0" rIns="0" bIns="0" rtlCol="0" anchor="ctr"/>
          <a:lstStyle/>
          <a:p>
            <a:pPr indent="0" marL="0">
              <a:buNone/>
            </a:pPr>
            <a:r>
              <a:rPr lang="en-US" sz="1800" b="1" dirty="0">
                <a:solidFill>
                  <a:srgbClr val="111827"/>
                </a:solidFill>
                <a:latin typeface="Arial" pitchFamily="34" charset="0"/>
                <a:ea typeface="Arial" pitchFamily="34" charset="-122"/>
                <a:cs typeface="Arial" pitchFamily="34" charset="-120"/>
              </a:rPr>
              <a:t>#10614</a:t>
            </a:r>
            <a:endParaRPr lang="en-US" sz="1800" dirty="0"/>
          </a:p>
        </p:txBody>
      </p:sp>
      <p:sp>
        <p:nvSpPr>
          <p:cNvPr id="26" name="Text 24"/>
          <p:cNvSpPr txBox="1"/>
          <p:nvPr/>
        </p:nvSpPr>
        <p:spPr>
          <a:xfrm>
            <a:off x="777240" y="4416552"/>
            <a:ext cx="3108960" cy="32004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Honest claim, same garage</a:t>
            </a:r>
            <a:endParaRPr lang="en-US" sz="1300" dirty="0"/>
          </a:p>
        </p:txBody>
      </p:sp>
      <p:sp>
        <p:nvSpPr>
          <p:cNvPr id="27" name="Shape 25"/>
          <p:cNvSpPr/>
          <p:nvPr/>
        </p:nvSpPr>
        <p:spPr>
          <a:xfrm>
            <a:off x="4114800" y="4151376"/>
            <a:ext cx="822960" cy="512064"/>
          </a:xfrm>
          <a:prstGeom prst="roundRect">
            <a:avLst>
              <a:gd name="adj" fmla="val 17857"/>
            </a:avLst>
          </a:prstGeom>
          <a:solidFill>
            <a:srgbClr val="E8F7EE"/>
          </a:solidFill>
          <a:ln w="12700">
            <a:solidFill>
              <a:srgbClr val="E8F7EE"/>
            </a:solidFill>
            <a:prstDash val="solid"/>
          </a:ln>
        </p:spPr>
      </p:sp>
      <p:sp>
        <p:nvSpPr>
          <p:cNvPr id="28" name="Text 26"/>
          <p:cNvSpPr txBox="1"/>
          <p:nvPr/>
        </p:nvSpPr>
        <p:spPr>
          <a:xfrm>
            <a:off x="4114800" y="4151376"/>
            <a:ext cx="822960" cy="512064"/>
          </a:xfrm>
          <a:prstGeom prst="rect">
            <a:avLst/>
          </a:prstGeom>
          <a:noFill/>
          <a:ln/>
        </p:spPr>
        <p:txBody>
          <a:bodyPr wrap="square" lIns="0" tIns="0" rIns="0" bIns="0" rtlCol="0" anchor="ctr"/>
          <a:lstStyle/>
          <a:p>
            <a:pPr algn="ctr" indent="0" marL="0">
              <a:buNone/>
            </a:pPr>
            <a:r>
              <a:rPr lang="en-US" sz="2000" b="1" dirty="0">
                <a:solidFill>
                  <a:srgbClr val="15803D"/>
                </a:solidFill>
                <a:latin typeface="Arial" pitchFamily="34" charset="0"/>
                <a:ea typeface="Arial" pitchFamily="34" charset="-122"/>
                <a:cs typeface="Arial" pitchFamily="34" charset="-120"/>
              </a:rPr>
              <a:t>15</a:t>
            </a:r>
            <a:endParaRPr lang="en-US" sz="2000" dirty="0"/>
          </a:p>
        </p:txBody>
      </p:sp>
      <p:sp>
        <p:nvSpPr>
          <p:cNvPr id="29" name="Text 27"/>
          <p:cNvSpPr txBox="1"/>
          <p:nvPr/>
        </p:nvSpPr>
        <p:spPr>
          <a:xfrm>
            <a:off x="4956048" y="4151376"/>
            <a:ext cx="365760" cy="512064"/>
          </a:xfrm>
          <a:prstGeom prst="rect">
            <a:avLst/>
          </a:prstGeom>
          <a:noFill/>
          <a:ln/>
        </p:spPr>
        <p:txBody>
          <a:bodyPr wrap="square" lIns="0" tIns="0" rIns="0" bIns="0" rtlCol="0" anchor="ctr"/>
          <a:lstStyle/>
          <a:p>
            <a:pPr algn="ctr" indent="0" marL="0">
              <a:buNone/>
            </a:pPr>
            <a:r>
              <a:rPr lang="en-US" sz="2000" dirty="0">
                <a:solidFill>
                  <a:srgbClr val="9CA3AF"/>
                </a:solidFill>
                <a:latin typeface="Arial" pitchFamily="34" charset="0"/>
                <a:ea typeface="Arial" pitchFamily="34" charset="-122"/>
                <a:cs typeface="Arial" pitchFamily="34" charset="-120"/>
              </a:rPr>
              <a:t>→</a:t>
            </a:r>
            <a:endParaRPr lang="en-US" sz="2000" dirty="0"/>
          </a:p>
        </p:txBody>
      </p:sp>
      <p:sp>
        <p:nvSpPr>
          <p:cNvPr id="30" name="Shape 28"/>
          <p:cNvSpPr/>
          <p:nvPr/>
        </p:nvSpPr>
        <p:spPr>
          <a:xfrm>
            <a:off x="5349240" y="4151376"/>
            <a:ext cx="1280160" cy="512064"/>
          </a:xfrm>
          <a:prstGeom prst="roundRect">
            <a:avLst>
              <a:gd name="adj" fmla="val 17857"/>
            </a:avLst>
          </a:prstGeom>
          <a:solidFill>
            <a:srgbClr val="E8F7EE"/>
          </a:solidFill>
          <a:ln w="12700">
            <a:solidFill>
              <a:srgbClr val="E8F7EE"/>
            </a:solidFill>
            <a:prstDash val="solid"/>
          </a:ln>
        </p:spPr>
      </p:sp>
      <p:sp>
        <p:nvSpPr>
          <p:cNvPr id="31" name="Text 29"/>
          <p:cNvSpPr txBox="1"/>
          <p:nvPr/>
        </p:nvSpPr>
        <p:spPr>
          <a:xfrm>
            <a:off x="5349240" y="4151376"/>
            <a:ext cx="1280160" cy="512064"/>
          </a:xfrm>
          <a:prstGeom prst="rect">
            <a:avLst/>
          </a:prstGeom>
          <a:noFill/>
          <a:ln/>
        </p:spPr>
        <p:txBody>
          <a:bodyPr wrap="square" lIns="0" tIns="0" rIns="0" bIns="0" rtlCol="0" anchor="ctr"/>
          <a:lstStyle/>
          <a:p>
            <a:pPr algn="ctr" indent="0" marL="0">
              <a:buNone/>
            </a:pPr>
            <a:r>
              <a:rPr lang="en-US" sz="2000" b="1" dirty="0">
                <a:solidFill>
                  <a:srgbClr val="15803D"/>
                </a:solidFill>
                <a:latin typeface="Arial" pitchFamily="34" charset="0"/>
                <a:ea typeface="Arial" pitchFamily="34" charset="-122"/>
                <a:cs typeface="Arial" pitchFamily="34" charset="-120"/>
              </a:rPr>
              <a:t>22</a:t>
            </a:r>
            <a:pPr algn="ctr" indent="0" marL="0">
              <a:buNone/>
            </a:pPr>
            <a:r>
              <a:rPr lang="en-US" sz="1100" dirty="0">
                <a:solidFill>
                  <a:srgbClr val="15803D"/>
                </a:solidFill>
                <a:latin typeface="Arial" pitchFamily="34" charset="0"/>
                <a:ea typeface="Arial" pitchFamily="34" charset="-122"/>
                <a:cs typeface="Arial" pitchFamily="34" charset="-120"/>
              </a:rPr>
              <a:t>  fast</a:t>
            </a:r>
            <a:endParaRPr lang="en-US" sz="2000" dirty="0"/>
          </a:p>
        </p:txBody>
      </p:sp>
      <p:sp>
        <p:nvSpPr>
          <p:cNvPr id="32" name="Text 30"/>
          <p:cNvSpPr txBox="1"/>
          <p:nvPr/>
        </p:nvSpPr>
        <p:spPr>
          <a:xfrm>
            <a:off x="6903720" y="4050792"/>
            <a:ext cx="4526280" cy="731520"/>
          </a:xfrm>
          <a:prstGeom prst="rect">
            <a:avLst/>
          </a:prstGeom>
          <a:noFill/>
          <a:ln/>
        </p:spPr>
        <p:txBody>
          <a:bodyPr wrap="square" lIns="0" tIns="0" rIns="0" bIns="0" rtlCol="0" anchor="ctr"/>
          <a:lstStyle/>
          <a:p>
            <a:pPr indent="0" marL="0">
              <a:buNone/>
            </a:pPr>
            <a:r>
              <a:rPr lang="en-US" sz="1300" dirty="0">
                <a:solidFill>
                  <a:srgbClr val="374151"/>
                </a:solidFill>
                <a:latin typeface="Calibri" pitchFamily="34" charset="0"/>
                <a:ea typeface="Calibri" pitchFamily="34" charset="-122"/>
                <a:cs typeface="Calibri" pitchFamily="34" charset="-120"/>
              </a:rPr>
              <a:t>Shares only the garage, different surveyor: WEAK evidence, correctly not flagged</a:t>
            </a:r>
            <a:endParaRPr lang="en-US" sz="1300" dirty="0"/>
          </a:p>
        </p:txBody>
      </p:sp>
      <p:sp>
        <p:nvSpPr>
          <p:cNvPr id="33" name="Shape 31"/>
          <p:cNvSpPr/>
          <p:nvPr/>
        </p:nvSpPr>
        <p:spPr>
          <a:xfrm>
            <a:off x="548640" y="5020056"/>
            <a:ext cx="11064240" cy="932688"/>
          </a:xfrm>
          <a:prstGeom prst="roundRect">
            <a:avLst>
              <a:gd name="adj" fmla="val 11765"/>
            </a:avLst>
          </a:prstGeom>
          <a:solidFill>
            <a:srgbClr val="FFFFFF"/>
          </a:solidFill>
          <a:ln w="12700">
            <a:solidFill>
              <a:srgbClr val="E5E7EB"/>
            </a:solidFill>
            <a:prstDash val="solid"/>
          </a:ln>
          <a:effectLst>
            <a:outerShdw sx="100000" sy="100000" kx="0" ky="0" algn="bl" rotWithShape="0" blurRad="101600" dist="25400" dir="5400000">
              <a:srgbClr val="000000">
                <a:alpha val="12000"/>
              </a:srgbClr>
            </a:outerShdw>
          </a:effectLst>
        </p:spPr>
      </p:sp>
      <p:sp>
        <p:nvSpPr>
          <p:cNvPr id="34" name="Text 32"/>
          <p:cNvSpPr txBox="1"/>
          <p:nvPr/>
        </p:nvSpPr>
        <p:spPr>
          <a:xfrm>
            <a:off x="777240" y="5148072"/>
            <a:ext cx="1097280" cy="365760"/>
          </a:xfrm>
          <a:prstGeom prst="rect">
            <a:avLst/>
          </a:prstGeom>
          <a:noFill/>
          <a:ln/>
        </p:spPr>
        <p:txBody>
          <a:bodyPr wrap="square" lIns="0" tIns="0" rIns="0" bIns="0" rtlCol="0" anchor="ctr"/>
          <a:lstStyle/>
          <a:p>
            <a:pPr indent="0" marL="0">
              <a:buNone/>
            </a:pPr>
            <a:r>
              <a:rPr lang="en-US" sz="1800" b="1" dirty="0">
                <a:solidFill>
                  <a:srgbClr val="111827"/>
                </a:solidFill>
                <a:latin typeface="Arial" pitchFamily="34" charset="0"/>
                <a:ea typeface="Arial" pitchFamily="34" charset="-122"/>
                <a:cs typeface="Arial" pitchFamily="34" charset="-120"/>
              </a:rPr>
              <a:t>#10597</a:t>
            </a:r>
            <a:endParaRPr lang="en-US" sz="1800" dirty="0"/>
          </a:p>
        </p:txBody>
      </p:sp>
      <p:sp>
        <p:nvSpPr>
          <p:cNvPr id="35" name="Text 33"/>
          <p:cNvSpPr txBox="1"/>
          <p:nvPr/>
        </p:nvSpPr>
        <p:spPr>
          <a:xfrm>
            <a:off x="777240" y="5495544"/>
            <a:ext cx="3108960" cy="32004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Same Creta, third claim</a:t>
            </a:r>
            <a:endParaRPr lang="en-US" sz="1300" dirty="0"/>
          </a:p>
        </p:txBody>
      </p:sp>
      <p:sp>
        <p:nvSpPr>
          <p:cNvPr id="36" name="Shape 34"/>
          <p:cNvSpPr/>
          <p:nvPr/>
        </p:nvSpPr>
        <p:spPr>
          <a:xfrm>
            <a:off x="4114800" y="5230368"/>
            <a:ext cx="822960" cy="512064"/>
          </a:xfrm>
          <a:prstGeom prst="roundRect">
            <a:avLst>
              <a:gd name="adj" fmla="val 17857"/>
            </a:avLst>
          </a:prstGeom>
          <a:solidFill>
            <a:srgbClr val="E8F7EE"/>
          </a:solidFill>
          <a:ln w="12700">
            <a:solidFill>
              <a:srgbClr val="E8F7EE"/>
            </a:solidFill>
            <a:prstDash val="solid"/>
          </a:ln>
        </p:spPr>
      </p:sp>
      <p:sp>
        <p:nvSpPr>
          <p:cNvPr id="37" name="Text 35"/>
          <p:cNvSpPr txBox="1"/>
          <p:nvPr/>
        </p:nvSpPr>
        <p:spPr>
          <a:xfrm>
            <a:off x="4114800" y="5230368"/>
            <a:ext cx="822960" cy="512064"/>
          </a:xfrm>
          <a:prstGeom prst="rect">
            <a:avLst/>
          </a:prstGeom>
          <a:noFill/>
          <a:ln/>
        </p:spPr>
        <p:txBody>
          <a:bodyPr wrap="square" lIns="0" tIns="0" rIns="0" bIns="0" rtlCol="0" anchor="ctr"/>
          <a:lstStyle/>
          <a:p>
            <a:pPr algn="ctr" indent="0" marL="0">
              <a:buNone/>
            </a:pPr>
            <a:r>
              <a:rPr lang="en-US" sz="2000" b="1" dirty="0">
                <a:solidFill>
                  <a:srgbClr val="15803D"/>
                </a:solidFill>
                <a:latin typeface="Arial" pitchFamily="34" charset="0"/>
                <a:ea typeface="Arial" pitchFamily="34" charset="-122"/>
                <a:cs typeface="Arial" pitchFamily="34" charset="-120"/>
              </a:rPr>
              <a:t>15</a:t>
            </a:r>
            <a:endParaRPr lang="en-US" sz="2000" dirty="0"/>
          </a:p>
        </p:txBody>
      </p:sp>
      <p:sp>
        <p:nvSpPr>
          <p:cNvPr id="38" name="Text 36"/>
          <p:cNvSpPr txBox="1"/>
          <p:nvPr/>
        </p:nvSpPr>
        <p:spPr>
          <a:xfrm>
            <a:off x="4956048" y="5230368"/>
            <a:ext cx="365760" cy="512064"/>
          </a:xfrm>
          <a:prstGeom prst="rect">
            <a:avLst/>
          </a:prstGeom>
          <a:noFill/>
          <a:ln/>
        </p:spPr>
        <p:txBody>
          <a:bodyPr wrap="square" lIns="0" tIns="0" rIns="0" bIns="0" rtlCol="0" anchor="ctr"/>
          <a:lstStyle/>
          <a:p>
            <a:pPr algn="ctr" indent="0" marL="0">
              <a:buNone/>
            </a:pPr>
            <a:r>
              <a:rPr lang="en-US" sz="2000" dirty="0">
                <a:solidFill>
                  <a:srgbClr val="9CA3AF"/>
                </a:solidFill>
                <a:latin typeface="Arial" pitchFamily="34" charset="0"/>
                <a:ea typeface="Arial" pitchFamily="34" charset="-122"/>
                <a:cs typeface="Arial" pitchFamily="34" charset="-120"/>
              </a:rPr>
              <a:t>→</a:t>
            </a:r>
            <a:endParaRPr lang="en-US" sz="2000" dirty="0"/>
          </a:p>
        </p:txBody>
      </p:sp>
      <p:sp>
        <p:nvSpPr>
          <p:cNvPr id="39" name="Shape 37"/>
          <p:cNvSpPr/>
          <p:nvPr/>
        </p:nvSpPr>
        <p:spPr>
          <a:xfrm>
            <a:off x="5349240" y="5230368"/>
            <a:ext cx="1280160" cy="512064"/>
          </a:xfrm>
          <a:prstGeom prst="roundRect">
            <a:avLst>
              <a:gd name="adj" fmla="val 17857"/>
            </a:avLst>
          </a:prstGeom>
          <a:solidFill>
            <a:srgbClr val="FDECEC"/>
          </a:solidFill>
          <a:ln w="12700">
            <a:solidFill>
              <a:srgbClr val="F3B0B0"/>
            </a:solidFill>
            <a:prstDash val="solid"/>
          </a:ln>
        </p:spPr>
      </p:sp>
      <p:sp>
        <p:nvSpPr>
          <p:cNvPr id="40" name="Text 38"/>
          <p:cNvSpPr txBox="1"/>
          <p:nvPr/>
        </p:nvSpPr>
        <p:spPr>
          <a:xfrm>
            <a:off x="5349240" y="5230368"/>
            <a:ext cx="1280160" cy="512064"/>
          </a:xfrm>
          <a:prstGeom prst="rect">
            <a:avLst/>
          </a:prstGeom>
          <a:noFill/>
          <a:ln/>
        </p:spPr>
        <p:txBody>
          <a:bodyPr wrap="square" lIns="0" tIns="0" rIns="0" bIns="0" rtlCol="0" anchor="ctr"/>
          <a:lstStyle/>
          <a:p>
            <a:pPr algn="ctr" indent="0" marL="0">
              <a:buNone/>
            </a:pPr>
            <a:r>
              <a:rPr lang="en-US" sz="2000" b="1" dirty="0">
                <a:solidFill>
                  <a:srgbClr val="B91C1C"/>
                </a:solidFill>
                <a:latin typeface="Arial" pitchFamily="34" charset="0"/>
                <a:ea typeface="Arial" pitchFamily="34" charset="-122"/>
                <a:cs typeface="Arial" pitchFamily="34" charset="-120"/>
              </a:rPr>
              <a:t>75</a:t>
            </a:r>
            <a:pPr algn="ctr" indent="0" marL="0">
              <a:buNone/>
            </a:pPr>
            <a:r>
              <a:rPr lang="en-US" sz="1100" dirty="0">
                <a:solidFill>
                  <a:srgbClr val="B91C1C"/>
                </a:solidFill>
                <a:latin typeface="Arial" pitchFamily="34" charset="0"/>
                <a:ea typeface="Arial" pitchFamily="34" charset="-122"/>
                <a:cs typeface="Arial" pitchFamily="34" charset="-120"/>
              </a:rPr>
              <a:t>  SIU</a:t>
            </a:r>
            <a:endParaRPr lang="en-US" sz="2000" dirty="0"/>
          </a:p>
        </p:txBody>
      </p:sp>
      <p:sp>
        <p:nvSpPr>
          <p:cNvPr id="41" name="Text 39"/>
          <p:cNvSpPr txBox="1"/>
          <p:nvPr/>
        </p:nvSpPr>
        <p:spPr>
          <a:xfrm>
            <a:off x="6903720" y="5129784"/>
            <a:ext cx="4526280" cy="731520"/>
          </a:xfrm>
          <a:prstGeom prst="rect">
            <a:avLst/>
          </a:prstGeom>
          <a:noFill/>
          <a:ln/>
        </p:spPr>
        <p:txBody>
          <a:bodyPr wrap="square" lIns="0" tIns="0" rIns="0" bIns="0" rtlCol="0" anchor="ctr"/>
          <a:lstStyle/>
          <a:p>
            <a:pPr indent="0" marL="0">
              <a:buNone/>
            </a:pPr>
            <a:r>
              <a:rPr lang="en-US" sz="1300" dirty="0">
                <a:solidFill>
                  <a:srgbClr val="374151"/>
                </a:solidFill>
                <a:latin typeface="Calibri" pitchFamily="34" charset="0"/>
                <a:ea typeface="Calibri" pitchFamily="34" charset="-122"/>
                <a:cs typeface="Calibri" pitchFamily="34" charset="-120"/>
              </a:rPr>
              <a:t>Vehicle TS08FK4521 claimed the same front-left damage in Feb and Jun</a:t>
            </a:r>
            <a:endParaRPr lang="en-US" sz="1300" dirty="0"/>
          </a:p>
        </p:txBody>
      </p:sp>
      <p:sp>
        <p:nvSpPr>
          <p:cNvPr id="42" name="Text 40"/>
          <p:cNvSpPr txBox="1"/>
          <p:nvPr/>
        </p:nvSpPr>
        <p:spPr>
          <a:xfrm>
            <a:off x="548640" y="6217920"/>
            <a:ext cx="11064240" cy="320040"/>
          </a:xfrm>
          <a:prstGeom prst="rect">
            <a:avLst/>
          </a:prstGeom>
          <a:noFill/>
          <a:ln/>
        </p:spPr>
        <p:txBody>
          <a:bodyPr wrap="square" lIns="0" tIns="0" rIns="0" bIns="0" rtlCol="0" anchor="ctr"/>
          <a:lstStyle/>
          <a:p>
            <a:pPr indent="0" marL="0">
              <a:buNone/>
            </a:pPr>
            <a:r>
              <a:rPr lang="en-US" sz="1150" i="1" dirty="0">
                <a:solidFill>
                  <a:srgbClr val="6B7280"/>
                </a:solidFill>
                <a:latin typeface="Calibri" pitchFamily="34" charset="0"/>
                <a:ea typeface="Calibri" pitchFamily="34" charset="-122"/>
                <a:cs typeface="Calibri" pitchFamily="34" charset="-120"/>
              </a:rPr>
              <a:t>Live run on Hindsight Cloud + openai/gpt-oss-120b (Groq). Scores are risk out of 100; above 60 = refer to SIU.</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82880"/>
            <a:ext cx="7315200" cy="274320"/>
          </a:xfrm>
          <a:prstGeom prst="rect">
            <a:avLst/>
          </a:prstGeom>
          <a:noFill/>
          <a:ln/>
        </p:spPr>
        <p:txBody>
          <a:bodyPr wrap="square" lIns="0" tIns="0" rIns="0" bIns="0" rtlCol="0" anchor="ctr"/>
          <a:lstStyle/>
          <a:p>
            <a:pPr indent="0" marL="0">
              <a:buNone/>
            </a:pPr>
            <a:r>
              <a:rPr lang="en-US" sz="1100" b="1" spc="300" kern="0" dirty="0">
                <a:solidFill>
                  <a:srgbClr val="6D28D9"/>
                </a:solidFill>
                <a:latin typeface="Arial" pitchFamily="34" charset="0"/>
                <a:ea typeface="Arial" pitchFamily="34" charset="-122"/>
                <a:cs typeface="Arial" pitchFamily="34" charset="-120"/>
              </a:rPr>
              <a:t>MEASURED, NOT CLAIMED</a:t>
            </a:r>
            <a:endParaRPr lang="en-US" sz="1100" dirty="0"/>
          </a:p>
        </p:txBody>
      </p:sp>
      <p:sp>
        <p:nvSpPr>
          <p:cNvPr id="3" name="Text 1"/>
          <p:cNvSpPr txBox="1"/>
          <p:nvPr/>
        </p:nvSpPr>
        <p:spPr>
          <a:xfrm>
            <a:off x="548640" y="411480"/>
            <a:ext cx="11094415" cy="731520"/>
          </a:xfrm>
          <a:prstGeom prst="rect">
            <a:avLst/>
          </a:prstGeom>
          <a:noFill/>
          <a:ln/>
        </p:spPr>
        <p:txBody>
          <a:bodyPr wrap="square" lIns="0" tIns="0" rIns="0" bIns="0" rtlCol="0" anchor="t"/>
          <a:lstStyle/>
          <a:p>
            <a:pPr indent="0" marL="0">
              <a:buNone/>
            </a:pPr>
            <a:r>
              <a:rPr lang="en-US" sz="3000" b="1" dirty="0">
                <a:solidFill>
                  <a:srgbClr val="111827"/>
                </a:solidFill>
                <a:latin typeface="Arial" pitchFamily="34" charset="0"/>
                <a:ea typeface="Arial" pitchFamily="34" charset="-122"/>
                <a:cs typeface="Arial" pitchFamily="34" charset="-120"/>
              </a:rPr>
              <a:t>The agent learns: detection climbs as investigators confirm cases</a:t>
            </a:r>
            <a:endParaRPr lang="en-US" sz="3000" dirty="0"/>
          </a:p>
        </p:txBody>
      </p:sp>
      <p:graphicFrame>
        <p:nvGraphicFramePr>
          <p:cNvPr id="4" name="Chart 0" descr=""/>
          <p:cNvGraphicFramePr/>
          <p:nvPr/>
        </p:nvGraphicFramePr>
        <p:xfrm>
          <a:off x="548640" y="1417320"/>
          <a:ext cx="6949440" cy="45720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863840" y="1463040"/>
            <a:ext cx="3749040" cy="1325880"/>
          </a:xfrm>
          <a:prstGeom prst="roundRect">
            <a:avLst>
              <a:gd name="adj" fmla="val 8276"/>
            </a:avLst>
          </a:prstGeom>
          <a:solidFill>
            <a:srgbClr val="F7F7FB"/>
          </a:solidFill>
          <a:ln w="12700">
            <a:solidFill>
              <a:srgbClr val="E5E7EB"/>
            </a:solidFill>
            <a:prstDash val="solid"/>
          </a:ln>
          <a:effectLst>
            <a:outerShdw sx="100000" sy="100000" kx="0" ky="0" algn="bl" rotWithShape="0" blurRad="101600" dist="25400" dir="5400000">
              <a:srgbClr val="000000">
                <a:alpha val="12000"/>
              </a:srgbClr>
            </a:outerShdw>
          </a:effectLst>
        </p:spPr>
      </p:sp>
      <p:sp>
        <p:nvSpPr>
          <p:cNvPr id="6" name="Text 3"/>
          <p:cNvSpPr txBox="1"/>
          <p:nvPr/>
        </p:nvSpPr>
        <p:spPr>
          <a:xfrm>
            <a:off x="8092440" y="1572768"/>
            <a:ext cx="3383280" cy="548640"/>
          </a:xfrm>
          <a:prstGeom prst="rect">
            <a:avLst/>
          </a:prstGeom>
          <a:noFill/>
          <a:ln/>
        </p:spPr>
        <p:txBody>
          <a:bodyPr wrap="square" lIns="0" tIns="0" rIns="0" bIns="0" rtlCol="0" anchor="ctr"/>
          <a:lstStyle/>
          <a:p>
            <a:pPr indent="0" marL="0">
              <a:buNone/>
            </a:pPr>
            <a:r>
              <a:rPr lang="en-US" sz="3000" b="1" dirty="0">
                <a:solidFill>
                  <a:srgbClr val="6D28D9"/>
                </a:solidFill>
                <a:latin typeface="Arial" pitchFamily="34" charset="0"/>
                <a:ea typeface="Arial" pitchFamily="34" charset="-122"/>
                <a:cs typeface="Arial" pitchFamily="34" charset="-120"/>
              </a:rPr>
              <a:t>11 / 12</a:t>
            </a:r>
            <a:endParaRPr lang="en-US" sz="3000" dirty="0"/>
          </a:p>
        </p:txBody>
      </p:sp>
      <p:sp>
        <p:nvSpPr>
          <p:cNvPr id="7" name="Text 4"/>
          <p:cNvSpPr txBox="1"/>
          <p:nvPr/>
        </p:nvSpPr>
        <p:spPr>
          <a:xfrm>
            <a:off x="8092440" y="2121408"/>
            <a:ext cx="3383280" cy="320040"/>
          </a:xfrm>
          <a:prstGeom prst="rect">
            <a:avLst/>
          </a:prstGeom>
          <a:noFill/>
          <a:ln/>
        </p:spPr>
        <p:txBody>
          <a:bodyPr wrap="square" lIns="0" tIns="0" rIns="0" bIns="0" rtlCol="0" anchor="ctr"/>
          <a:lstStyle/>
          <a:p>
            <a:pPr indent="0" marL="0">
              <a:buNone/>
            </a:pPr>
            <a:r>
              <a:rPr lang="en-US" sz="1300" dirty="0">
                <a:solidFill>
                  <a:srgbClr val="374151"/>
                </a:solidFill>
                <a:latin typeface="Calibri" pitchFamily="34" charset="0"/>
                <a:ea typeface="Calibri" pitchFamily="34" charset="-122"/>
                <a:cs typeface="Calibri" pitchFamily="34" charset="-120"/>
              </a:rPr>
              <a:t>fraud claims flagged in Aug–Sep with Hindsight</a:t>
            </a:r>
            <a:endParaRPr lang="en-US" sz="1300" dirty="0"/>
          </a:p>
        </p:txBody>
      </p:sp>
      <p:sp>
        <p:nvSpPr>
          <p:cNvPr id="8" name="Text 5"/>
          <p:cNvSpPr txBox="1"/>
          <p:nvPr/>
        </p:nvSpPr>
        <p:spPr>
          <a:xfrm>
            <a:off x="8092440" y="2414016"/>
            <a:ext cx="3383280" cy="274320"/>
          </a:xfrm>
          <a:prstGeom prst="rect">
            <a:avLst/>
          </a:prstGeom>
          <a:noFill/>
          <a:ln/>
        </p:spPr>
        <p:txBody>
          <a:bodyPr wrap="square" lIns="0" tIns="0" rIns="0" bIns="0" rtlCol="0" anchor="ctr"/>
          <a:lstStyle/>
          <a:p>
            <a:pPr indent="0" marL="0">
              <a:buNone/>
            </a:pPr>
            <a:r>
              <a:rPr lang="en-US" sz="1150" i="1" dirty="0">
                <a:solidFill>
                  <a:srgbClr val="6B7280"/>
                </a:solidFill>
                <a:latin typeface="Calibri" pitchFamily="34" charset="0"/>
                <a:ea typeface="Calibri" pitchFamily="34" charset="-122"/>
                <a:cs typeface="Calibri" pitchFamily="34" charset="-120"/>
              </a:rPr>
              <a:t>vs 0 / 12 without memory</a:t>
            </a:r>
            <a:endParaRPr lang="en-US" sz="1150" dirty="0"/>
          </a:p>
        </p:txBody>
      </p:sp>
      <p:sp>
        <p:nvSpPr>
          <p:cNvPr id="9" name="Shape 6"/>
          <p:cNvSpPr/>
          <p:nvPr/>
        </p:nvSpPr>
        <p:spPr>
          <a:xfrm>
            <a:off x="7863840" y="2944368"/>
            <a:ext cx="3749040" cy="1325880"/>
          </a:xfrm>
          <a:prstGeom prst="roundRect">
            <a:avLst>
              <a:gd name="adj" fmla="val 8276"/>
            </a:avLst>
          </a:prstGeom>
          <a:solidFill>
            <a:srgbClr val="F7F7FB"/>
          </a:solidFill>
          <a:ln w="12700">
            <a:solidFill>
              <a:srgbClr val="E5E7EB"/>
            </a:solidFill>
            <a:prstDash val="solid"/>
          </a:ln>
          <a:effectLst>
            <a:outerShdw sx="100000" sy="100000" kx="0" ky="0" algn="bl" rotWithShape="0" blurRad="101600" dist="25400" dir="5400000">
              <a:srgbClr val="000000">
                <a:alpha val="12000"/>
              </a:srgbClr>
            </a:outerShdw>
          </a:effectLst>
        </p:spPr>
      </p:sp>
      <p:sp>
        <p:nvSpPr>
          <p:cNvPr id="10" name="Text 7"/>
          <p:cNvSpPr txBox="1"/>
          <p:nvPr/>
        </p:nvSpPr>
        <p:spPr>
          <a:xfrm>
            <a:off x="8092440" y="3054096"/>
            <a:ext cx="3383280" cy="548640"/>
          </a:xfrm>
          <a:prstGeom prst="rect">
            <a:avLst/>
          </a:prstGeom>
          <a:noFill/>
          <a:ln/>
        </p:spPr>
        <p:txBody>
          <a:bodyPr wrap="square" lIns="0" tIns="0" rIns="0" bIns="0" rtlCol="0" anchor="ctr"/>
          <a:lstStyle/>
          <a:p>
            <a:pPr indent="0" marL="0">
              <a:buNone/>
            </a:pPr>
            <a:r>
              <a:rPr lang="en-US" sz="3000" b="1" dirty="0">
                <a:solidFill>
                  <a:srgbClr val="15803D"/>
                </a:solidFill>
                <a:latin typeface="Arial" pitchFamily="34" charset="0"/>
                <a:ea typeface="Arial" pitchFamily="34" charset="-122"/>
                <a:cs typeface="Arial" pitchFamily="34" charset="-120"/>
              </a:rPr>
              <a:t>0</a:t>
            </a:r>
            <a:endParaRPr lang="en-US" sz="3000" dirty="0"/>
          </a:p>
        </p:txBody>
      </p:sp>
      <p:sp>
        <p:nvSpPr>
          <p:cNvPr id="11" name="Text 8"/>
          <p:cNvSpPr txBox="1"/>
          <p:nvPr/>
        </p:nvSpPr>
        <p:spPr>
          <a:xfrm>
            <a:off x="8092440" y="3602736"/>
            <a:ext cx="3383280" cy="320040"/>
          </a:xfrm>
          <a:prstGeom prst="rect">
            <a:avLst/>
          </a:prstGeom>
          <a:noFill/>
          <a:ln/>
        </p:spPr>
        <p:txBody>
          <a:bodyPr wrap="square" lIns="0" tIns="0" rIns="0" bIns="0" rtlCol="0" anchor="ctr"/>
          <a:lstStyle/>
          <a:p>
            <a:pPr indent="0" marL="0">
              <a:buNone/>
            </a:pPr>
            <a:r>
              <a:rPr lang="en-US" sz="1300" dirty="0">
                <a:solidFill>
                  <a:srgbClr val="374151"/>
                </a:solidFill>
                <a:latin typeface="Calibri" pitchFamily="34" charset="0"/>
                <a:ea typeface="Calibri" pitchFamily="34" charset="-122"/>
                <a:cs typeface="Calibri" pitchFamily="34" charset="-120"/>
              </a:rPr>
              <a:t>honest claims wrongly flagged, all year</a:t>
            </a:r>
            <a:endParaRPr lang="en-US" sz="1300" dirty="0"/>
          </a:p>
        </p:txBody>
      </p:sp>
      <p:sp>
        <p:nvSpPr>
          <p:cNvPr id="12" name="Text 9"/>
          <p:cNvSpPr txBox="1"/>
          <p:nvPr/>
        </p:nvSpPr>
        <p:spPr>
          <a:xfrm>
            <a:off x="8092440" y="3895344"/>
            <a:ext cx="3383280" cy="274320"/>
          </a:xfrm>
          <a:prstGeom prst="rect">
            <a:avLst/>
          </a:prstGeom>
          <a:noFill/>
          <a:ln/>
        </p:spPr>
        <p:txBody>
          <a:bodyPr wrap="square" lIns="0" tIns="0" rIns="0" bIns="0" rtlCol="0" anchor="ctr"/>
          <a:lstStyle/>
          <a:p>
            <a:pPr indent="0" marL="0">
              <a:buNone/>
            </a:pPr>
            <a:r>
              <a:rPr lang="en-US" sz="1150" i="1" dirty="0">
                <a:solidFill>
                  <a:srgbClr val="6B7280"/>
                </a:solidFill>
                <a:latin typeface="Calibri" pitchFamily="34" charset="0"/>
                <a:ea typeface="Calibri" pitchFamily="34" charset="-122"/>
                <a:cs typeface="Calibri" pitchFamily="34" charset="-120"/>
              </a:rPr>
              <a:t>precision 100%</a:t>
            </a:r>
            <a:endParaRPr lang="en-US" sz="1150" dirty="0"/>
          </a:p>
        </p:txBody>
      </p:sp>
      <p:sp>
        <p:nvSpPr>
          <p:cNvPr id="13" name="Shape 10"/>
          <p:cNvSpPr/>
          <p:nvPr/>
        </p:nvSpPr>
        <p:spPr>
          <a:xfrm>
            <a:off x="7863840" y="4425696"/>
            <a:ext cx="3749040" cy="1325880"/>
          </a:xfrm>
          <a:prstGeom prst="roundRect">
            <a:avLst>
              <a:gd name="adj" fmla="val 8276"/>
            </a:avLst>
          </a:prstGeom>
          <a:solidFill>
            <a:srgbClr val="F7F7FB"/>
          </a:solidFill>
          <a:ln w="12700">
            <a:solidFill>
              <a:srgbClr val="E5E7EB"/>
            </a:solidFill>
            <a:prstDash val="solid"/>
          </a:ln>
          <a:effectLst>
            <a:outerShdw sx="100000" sy="100000" kx="0" ky="0" algn="bl" rotWithShape="0" blurRad="101600" dist="25400" dir="5400000">
              <a:srgbClr val="000000">
                <a:alpha val="12000"/>
              </a:srgbClr>
            </a:outerShdw>
          </a:effectLst>
        </p:spPr>
      </p:sp>
      <p:sp>
        <p:nvSpPr>
          <p:cNvPr id="14" name="Text 11"/>
          <p:cNvSpPr txBox="1"/>
          <p:nvPr/>
        </p:nvSpPr>
        <p:spPr>
          <a:xfrm>
            <a:off x="8092440" y="4535424"/>
            <a:ext cx="3383280" cy="548640"/>
          </a:xfrm>
          <a:prstGeom prst="rect">
            <a:avLst/>
          </a:prstGeom>
          <a:noFill/>
          <a:ln/>
        </p:spPr>
        <p:txBody>
          <a:bodyPr wrap="square" lIns="0" tIns="0" rIns="0" bIns="0" rtlCol="0" anchor="ctr"/>
          <a:lstStyle/>
          <a:p>
            <a:pPr indent="0" marL="0">
              <a:buNone/>
            </a:pPr>
            <a:r>
              <a:rPr lang="en-US" sz="3000" b="1" dirty="0">
                <a:solidFill>
                  <a:srgbClr val="1E1B4B"/>
                </a:solidFill>
                <a:latin typeface="Arial" pitchFamily="34" charset="0"/>
                <a:ea typeface="Arial" pitchFamily="34" charset="-122"/>
                <a:cs typeface="Arial" pitchFamily="34" charset="-120"/>
              </a:rPr>
              <a:t>₹36.7 lakh</a:t>
            </a:r>
            <a:endParaRPr lang="en-US" sz="3000" dirty="0"/>
          </a:p>
        </p:txBody>
      </p:sp>
      <p:sp>
        <p:nvSpPr>
          <p:cNvPr id="15" name="Text 12"/>
          <p:cNvSpPr txBox="1"/>
          <p:nvPr/>
        </p:nvSpPr>
        <p:spPr>
          <a:xfrm>
            <a:off x="8092440" y="5084064"/>
            <a:ext cx="3383280" cy="320040"/>
          </a:xfrm>
          <a:prstGeom prst="rect">
            <a:avLst/>
          </a:prstGeom>
          <a:noFill/>
          <a:ln/>
        </p:spPr>
        <p:txBody>
          <a:bodyPr wrap="square" lIns="0" tIns="0" rIns="0" bIns="0" rtlCol="0" anchor="ctr"/>
          <a:lstStyle/>
          <a:p>
            <a:pPr indent="0" marL="0">
              <a:buNone/>
            </a:pPr>
            <a:r>
              <a:rPr lang="en-US" sz="1300" dirty="0">
                <a:solidFill>
                  <a:srgbClr val="374151"/>
                </a:solidFill>
                <a:latin typeface="Calibri" pitchFamily="34" charset="0"/>
                <a:ea typeface="Calibri" pitchFamily="34" charset="-122"/>
                <a:cs typeface="Calibri" pitchFamily="34" charset="-120"/>
              </a:rPr>
              <a:t>of fraud flagged in the replay</a:t>
            </a:r>
            <a:endParaRPr lang="en-US" sz="1300" dirty="0"/>
          </a:p>
        </p:txBody>
      </p:sp>
      <p:sp>
        <p:nvSpPr>
          <p:cNvPr id="16" name="Text 13"/>
          <p:cNvSpPr txBox="1"/>
          <p:nvPr/>
        </p:nvSpPr>
        <p:spPr>
          <a:xfrm>
            <a:off x="8092440" y="5376672"/>
            <a:ext cx="3383280" cy="274320"/>
          </a:xfrm>
          <a:prstGeom prst="rect">
            <a:avLst/>
          </a:prstGeom>
          <a:noFill/>
          <a:ln/>
        </p:spPr>
        <p:txBody>
          <a:bodyPr wrap="square" lIns="0" tIns="0" rIns="0" bIns="0" rtlCol="0" anchor="ctr"/>
          <a:lstStyle/>
          <a:p>
            <a:pPr indent="0" marL="0">
              <a:buNone/>
            </a:pPr>
            <a:r>
              <a:rPr lang="en-US" sz="1150" i="1" dirty="0">
                <a:solidFill>
                  <a:srgbClr val="6B7280"/>
                </a:solidFill>
                <a:latin typeface="Calibri" pitchFamily="34" charset="0"/>
                <a:ea typeface="Calibri" pitchFamily="34" charset="-122"/>
                <a:cs typeface="Calibri" pitchFamily="34" charset="-120"/>
              </a:rPr>
              <a:t>vs ₹0 without memory</a:t>
            </a:r>
            <a:endParaRPr lang="en-US" sz="1150" dirty="0"/>
          </a:p>
        </p:txBody>
      </p:sp>
      <p:sp>
        <p:nvSpPr>
          <p:cNvPr id="17" name="Text 14"/>
          <p:cNvSpPr txBox="1"/>
          <p:nvPr/>
        </p:nvSpPr>
        <p:spPr>
          <a:xfrm>
            <a:off x="548640" y="6172200"/>
            <a:ext cx="11064240" cy="411480"/>
          </a:xfrm>
          <a:prstGeom prst="rect">
            <a:avLst/>
          </a:prstGeom>
          <a:noFill/>
          <a:ln/>
        </p:spPr>
        <p:txBody>
          <a:bodyPr wrap="square" lIns="0" tIns="0" rIns="0" bIns="0" rtlCol="0" anchor="ctr"/>
          <a:lstStyle/>
          <a:p>
            <a:pPr indent="0" marL="0">
              <a:buNone/>
            </a:pPr>
            <a:r>
              <a:rPr lang="en-US" sz="1150" i="1" dirty="0">
                <a:solidFill>
                  <a:srgbClr val="6B7280"/>
                </a:solidFill>
                <a:latin typeface="Calibri" pitchFamily="34" charset="0"/>
                <a:ea typeface="Calibri" pitchFamily="34" charset="-122"/>
                <a:cs typeface="Calibri" pitchFamily="34" charset="-120"/>
              </a:rPr>
              <a:t>With memory: Jul 43%, Aug 100%, Sep 86%; without memory: 0% every month. Leak-free replay of 215 claims in date order, 70 scored (all 33 fraud + 37 genuine); outcomes enter memory on the day they were decided.</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B"/>
        </a:solidFill>
      </p:bgPr>
    </p:bg>
    <p:spTree>
      <p:nvGrpSpPr>
        <p:cNvPr id="1" name=""/>
        <p:cNvGrpSpPr/>
        <p:nvPr/>
      </p:nvGrpSpPr>
      <p:grpSpPr>
        <a:xfrm>
          <a:off x="0" y="0"/>
          <a:ext cx="0" cy="0"/>
          <a:chOff x="0" y="0"/>
          <a:chExt cx="0" cy="0"/>
        </a:xfrm>
      </p:grpSpPr>
      <p:sp>
        <p:nvSpPr>
          <p:cNvPr id="2" name="Text 0"/>
          <p:cNvSpPr txBox="1"/>
          <p:nvPr/>
        </p:nvSpPr>
        <p:spPr>
          <a:xfrm>
            <a:off x="548640" y="182880"/>
            <a:ext cx="7315200" cy="274320"/>
          </a:xfrm>
          <a:prstGeom prst="rect">
            <a:avLst/>
          </a:prstGeom>
          <a:noFill/>
          <a:ln/>
        </p:spPr>
        <p:txBody>
          <a:bodyPr wrap="square" lIns="0" tIns="0" rIns="0" bIns="0" rtlCol="0" anchor="ctr"/>
          <a:lstStyle/>
          <a:p>
            <a:pPr indent="0" marL="0">
              <a:buNone/>
            </a:pPr>
            <a:r>
              <a:rPr lang="en-US" sz="1100" b="1" spc="300" kern="0" dirty="0">
                <a:solidFill>
                  <a:srgbClr val="6D28D9"/>
                </a:solidFill>
                <a:latin typeface="Arial" pitchFamily="34" charset="0"/>
                <a:ea typeface="Arial" pitchFamily="34" charset="-122"/>
                <a:cs typeface="Arial" pitchFamily="34" charset="-120"/>
              </a:rPr>
              <a:t>WHY CLAIMLENS STANDS OUT</a:t>
            </a:r>
            <a:endParaRPr lang="en-US" sz="1100" dirty="0"/>
          </a:p>
        </p:txBody>
      </p:sp>
      <p:sp>
        <p:nvSpPr>
          <p:cNvPr id="3" name="Text 1"/>
          <p:cNvSpPr txBox="1"/>
          <p:nvPr/>
        </p:nvSpPr>
        <p:spPr>
          <a:xfrm>
            <a:off x="548640" y="411480"/>
            <a:ext cx="11094415" cy="731520"/>
          </a:xfrm>
          <a:prstGeom prst="rect">
            <a:avLst/>
          </a:prstGeom>
          <a:noFill/>
          <a:ln/>
        </p:spPr>
        <p:txBody>
          <a:bodyPr wrap="square" lIns="0" tIns="0" rIns="0" bIns="0" rtlCol="0" anchor="t"/>
          <a:lstStyle/>
          <a:p>
            <a:pPr indent="0" marL="0">
              <a:buNone/>
            </a:pPr>
            <a:r>
              <a:rPr lang="en-US" sz="3000" b="1" dirty="0">
                <a:solidFill>
                  <a:srgbClr val="111827"/>
                </a:solidFill>
                <a:latin typeface="Arial" pitchFamily="34" charset="0"/>
                <a:ea typeface="Arial" pitchFamily="34" charset="-122"/>
                <a:cs typeface="Arial" pitchFamily="34" charset="-120"/>
              </a:rPr>
              <a:t>Memory is the product, not a feature</a:t>
            </a:r>
            <a:endParaRPr lang="en-US" sz="3000" dirty="0"/>
          </a:p>
        </p:txBody>
      </p:sp>
      <p:sp>
        <p:nvSpPr>
          <p:cNvPr id="4" name="Shape 2"/>
          <p:cNvSpPr/>
          <p:nvPr/>
        </p:nvSpPr>
        <p:spPr>
          <a:xfrm>
            <a:off x="548640" y="1463040"/>
            <a:ext cx="5440680" cy="1463040"/>
          </a:xfrm>
          <a:prstGeom prst="roundRect">
            <a:avLst>
              <a:gd name="adj" fmla="val 7500"/>
            </a:avLst>
          </a:prstGeom>
          <a:solidFill>
            <a:srgbClr val="FFFFFF"/>
          </a:solidFill>
          <a:ln w="12700">
            <a:solidFill>
              <a:srgbClr val="E5E7EB"/>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777240" y="1737360"/>
            <a:ext cx="685800" cy="685800"/>
          </a:xfrm>
          <a:prstGeom prst="ellipse">
            <a:avLst/>
          </a:prstGeom>
          <a:solidFill>
            <a:srgbClr val="6D28D9"/>
          </a:solidFill>
          <a:ln w="12700">
            <a:solidFill>
              <a:srgbClr val="6D28D9"/>
            </a:solidFill>
            <a:prstDash val="solid"/>
          </a:ln>
        </p:spPr>
      </p:sp>
      <p:pic>
        <p:nvPicPr>
          <p:cNvPr id="6" name="Image 0" descr="preencoded.png">    </p:cNvPr>
          <p:cNvPicPr>
            <a:picLocks noChangeAspect="1"/>
          </p:cNvPicPr>
          <p:nvPr/>
        </p:nvPicPr>
        <p:blipFill>
          <a:blip r:embed="rId1"/>
          <a:stretch>
            <a:fillRect/>
          </a:stretch>
        </p:blipFill>
        <p:spPr>
          <a:xfrm>
            <a:off x="948690" y="1908810"/>
            <a:ext cx="342900" cy="342900"/>
          </a:xfrm>
          <a:prstGeom prst="rect">
            <a:avLst/>
          </a:prstGeom>
        </p:spPr>
      </p:pic>
      <p:sp>
        <p:nvSpPr>
          <p:cNvPr id="7" name="Text 4"/>
          <p:cNvSpPr txBox="1"/>
          <p:nvPr/>
        </p:nvSpPr>
        <p:spPr>
          <a:xfrm>
            <a:off x="1645920" y="1645920"/>
            <a:ext cx="4160520" cy="365760"/>
          </a:xfrm>
          <a:prstGeom prst="rect">
            <a:avLst/>
          </a:prstGeom>
          <a:noFill/>
          <a:ln/>
        </p:spPr>
        <p:txBody>
          <a:bodyPr wrap="square" lIns="0" tIns="0" rIns="0" bIns="0" rtlCol="0" anchor="ctr"/>
          <a:lstStyle/>
          <a:p>
            <a:pPr indent="0" marL="0">
              <a:buNone/>
            </a:pPr>
            <a:r>
              <a:rPr lang="en-US" sz="1600" b="1" dirty="0">
                <a:solidFill>
                  <a:srgbClr val="111827"/>
                </a:solidFill>
                <a:latin typeface="Arial" pitchFamily="34" charset="0"/>
                <a:ea typeface="Arial" pitchFamily="34" charset="-122"/>
                <a:cs typeface="Arial" pitchFamily="34" charset="-120"/>
              </a:rPr>
              <a:t>Outcomes are memories</a:t>
            </a:r>
            <a:endParaRPr lang="en-US" sz="1600" dirty="0"/>
          </a:p>
        </p:txBody>
      </p:sp>
      <p:sp>
        <p:nvSpPr>
          <p:cNvPr id="8" name="Text 5"/>
          <p:cNvSpPr txBox="1"/>
          <p:nvPr/>
        </p:nvSpPr>
        <p:spPr>
          <a:xfrm>
            <a:off x="1645920" y="2029968"/>
            <a:ext cx="4160520" cy="822960"/>
          </a:xfrm>
          <a:prstGeom prst="rect">
            <a:avLst/>
          </a:prstGeom>
          <a:noFill/>
          <a:ln/>
        </p:spPr>
        <p:txBody>
          <a:bodyPr wrap="square" lIns="0" tIns="0" rIns="0" bIns="0" rtlCol="0" anchor="t"/>
          <a:lstStyle/>
          <a:p>
            <a:pPr indent="0" marL="0">
              <a:buNone/>
            </a:pPr>
            <a:r>
              <a:rPr lang="en-US" sz="1250" dirty="0">
                <a:solidFill>
                  <a:srgbClr val="374151"/>
                </a:solidFill>
                <a:latin typeface="Calibri" pitchFamily="34" charset="0"/>
                <a:ea typeface="Calibri" pitchFamily="34" charset="-122"/>
                <a:cs typeface="Calibri" pitchFamily="34" charset="-120"/>
              </a:rPr>
              <a:t>Investigator decisions are retained as their own dated documents with the claim's entity tags. That's what turns recall into learning.</a:t>
            </a:r>
            <a:endParaRPr lang="en-US" sz="1250" dirty="0"/>
          </a:p>
        </p:txBody>
      </p:sp>
      <p:sp>
        <p:nvSpPr>
          <p:cNvPr id="9" name="Shape 6"/>
          <p:cNvSpPr/>
          <p:nvPr/>
        </p:nvSpPr>
        <p:spPr>
          <a:xfrm>
            <a:off x="6172200" y="1463040"/>
            <a:ext cx="5440680" cy="1463040"/>
          </a:xfrm>
          <a:prstGeom prst="roundRect">
            <a:avLst>
              <a:gd name="adj" fmla="val 7500"/>
            </a:avLst>
          </a:prstGeom>
          <a:solidFill>
            <a:srgbClr val="FFFFFF"/>
          </a:solidFill>
          <a:ln w="12700">
            <a:solidFill>
              <a:srgbClr val="E5E7EB"/>
            </a:solidFill>
            <a:prstDash val="solid"/>
          </a:ln>
          <a:effectLst>
            <a:outerShdw sx="100000" sy="100000" kx="0" ky="0" algn="bl" rotWithShape="0" blurRad="101600" dist="25400" dir="5400000">
              <a:srgbClr val="000000">
                <a:alpha val="12000"/>
              </a:srgbClr>
            </a:outerShdw>
          </a:effectLst>
        </p:spPr>
      </p:sp>
      <p:sp>
        <p:nvSpPr>
          <p:cNvPr id="10" name="Shape 7"/>
          <p:cNvSpPr/>
          <p:nvPr/>
        </p:nvSpPr>
        <p:spPr>
          <a:xfrm>
            <a:off x="6400800" y="1737360"/>
            <a:ext cx="685800" cy="685800"/>
          </a:xfrm>
          <a:prstGeom prst="ellipse">
            <a:avLst/>
          </a:prstGeom>
          <a:solidFill>
            <a:srgbClr val="6D28D9"/>
          </a:solidFill>
          <a:ln w="12700">
            <a:solidFill>
              <a:srgbClr val="6D28D9"/>
            </a:solidFill>
            <a:prstDash val="solid"/>
          </a:ln>
        </p:spPr>
      </p:sp>
      <p:pic>
        <p:nvPicPr>
          <p:cNvPr id="11" name="Image 1" descr="preencoded.png">    </p:cNvPr>
          <p:cNvPicPr>
            <a:picLocks noChangeAspect="1"/>
          </p:cNvPicPr>
          <p:nvPr/>
        </p:nvPicPr>
        <p:blipFill>
          <a:blip r:embed="rId2"/>
          <a:stretch>
            <a:fillRect/>
          </a:stretch>
        </p:blipFill>
        <p:spPr>
          <a:xfrm>
            <a:off x="6572250" y="1908810"/>
            <a:ext cx="342900" cy="342900"/>
          </a:xfrm>
          <a:prstGeom prst="rect">
            <a:avLst/>
          </a:prstGeom>
        </p:spPr>
      </p:pic>
      <p:sp>
        <p:nvSpPr>
          <p:cNvPr id="12" name="Text 8"/>
          <p:cNvSpPr txBox="1"/>
          <p:nvPr/>
        </p:nvSpPr>
        <p:spPr>
          <a:xfrm>
            <a:off x="7269480" y="1645920"/>
            <a:ext cx="4160520" cy="365760"/>
          </a:xfrm>
          <a:prstGeom prst="rect">
            <a:avLst/>
          </a:prstGeom>
          <a:noFill/>
          <a:ln/>
        </p:spPr>
        <p:txBody>
          <a:bodyPr wrap="square" lIns="0" tIns="0" rIns="0" bIns="0" rtlCol="0" anchor="ctr"/>
          <a:lstStyle/>
          <a:p>
            <a:pPr indent="0" marL="0">
              <a:buNone/>
            </a:pPr>
            <a:r>
              <a:rPr lang="en-US" sz="1600" b="1" dirty="0">
                <a:solidFill>
                  <a:srgbClr val="111827"/>
                </a:solidFill>
                <a:latin typeface="Arial" pitchFamily="34" charset="0"/>
                <a:ea typeface="Arial" pitchFamily="34" charset="-122"/>
                <a:cs typeface="Arial" pitchFamily="34" charset="-120"/>
              </a:rPr>
              <a:t>Memory as investigator questions</a:t>
            </a:r>
            <a:endParaRPr lang="en-US" sz="1600" dirty="0"/>
          </a:p>
        </p:txBody>
      </p:sp>
      <p:sp>
        <p:nvSpPr>
          <p:cNvPr id="13" name="Text 9"/>
          <p:cNvSpPr txBox="1"/>
          <p:nvPr/>
        </p:nvSpPr>
        <p:spPr>
          <a:xfrm>
            <a:off x="7269480" y="2029968"/>
            <a:ext cx="4160520" cy="822960"/>
          </a:xfrm>
          <a:prstGeom prst="rect">
            <a:avLst/>
          </a:prstGeom>
          <a:noFill/>
          <a:ln/>
        </p:spPr>
        <p:txBody>
          <a:bodyPr wrap="square" lIns="0" tIns="0" rIns="0" bIns="0" rtlCol="0" anchor="t"/>
          <a:lstStyle/>
          <a:p>
            <a:pPr indent="0" marL="0">
              <a:buNone/>
            </a:pPr>
            <a:r>
              <a:rPr lang="en-US" sz="1250" dirty="0">
                <a:solidFill>
                  <a:srgbClr val="374151"/>
                </a:solidFill>
                <a:latin typeface="Calibri" pitchFamily="34" charset="0"/>
                <a:ea typeface="Calibri" pitchFamily="34" charset="-122"/>
                <a:cs typeface="Calibri" pitchFamily="34" charset="-120"/>
              </a:rPr>
              <a:t>15–17 targeted recalls per claim: who else has this phone, account or vehicle? What did SIU decide? Heard this story before?</a:t>
            </a:r>
            <a:endParaRPr lang="en-US" sz="1250" dirty="0"/>
          </a:p>
        </p:txBody>
      </p:sp>
      <p:sp>
        <p:nvSpPr>
          <p:cNvPr id="14" name="Shape 10"/>
          <p:cNvSpPr/>
          <p:nvPr/>
        </p:nvSpPr>
        <p:spPr>
          <a:xfrm>
            <a:off x="548640" y="3108960"/>
            <a:ext cx="5440680" cy="1463040"/>
          </a:xfrm>
          <a:prstGeom prst="roundRect">
            <a:avLst>
              <a:gd name="adj" fmla="val 7500"/>
            </a:avLst>
          </a:prstGeom>
          <a:solidFill>
            <a:srgbClr val="FFFFFF"/>
          </a:solidFill>
          <a:ln w="12700">
            <a:solidFill>
              <a:srgbClr val="E5E7EB"/>
            </a:solidFill>
            <a:prstDash val="solid"/>
          </a:ln>
          <a:effectLst>
            <a:outerShdw sx="100000" sy="100000" kx="0" ky="0" algn="bl" rotWithShape="0" blurRad="101600" dist="25400" dir="5400000">
              <a:srgbClr val="000000">
                <a:alpha val="12000"/>
              </a:srgbClr>
            </a:outerShdw>
          </a:effectLst>
        </p:spPr>
      </p:sp>
      <p:sp>
        <p:nvSpPr>
          <p:cNvPr id="15" name="Shape 11"/>
          <p:cNvSpPr/>
          <p:nvPr/>
        </p:nvSpPr>
        <p:spPr>
          <a:xfrm>
            <a:off x="777240" y="3383280"/>
            <a:ext cx="685800" cy="685800"/>
          </a:xfrm>
          <a:prstGeom prst="ellipse">
            <a:avLst/>
          </a:prstGeom>
          <a:solidFill>
            <a:srgbClr val="6D28D9"/>
          </a:solidFill>
          <a:ln w="12700">
            <a:solidFill>
              <a:srgbClr val="6D28D9"/>
            </a:solidFill>
            <a:prstDash val="solid"/>
          </a:ln>
        </p:spPr>
      </p:sp>
      <p:pic>
        <p:nvPicPr>
          <p:cNvPr id="16" name="Image 2" descr="preencoded.png">    </p:cNvPr>
          <p:cNvPicPr>
            <a:picLocks noChangeAspect="1"/>
          </p:cNvPicPr>
          <p:nvPr/>
        </p:nvPicPr>
        <p:blipFill>
          <a:blip r:embed="rId3"/>
          <a:stretch>
            <a:fillRect/>
          </a:stretch>
        </p:blipFill>
        <p:spPr>
          <a:xfrm>
            <a:off x="948690" y="3554730"/>
            <a:ext cx="342900" cy="342900"/>
          </a:xfrm>
          <a:prstGeom prst="rect">
            <a:avLst/>
          </a:prstGeom>
        </p:spPr>
      </p:pic>
      <p:sp>
        <p:nvSpPr>
          <p:cNvPr id="17" name="Text 12"/>
          <p:cNvSpPr txBox="1"/>
          <p:nvPr/>
        </p:nvSpPr>
        <p:spPr>
          <a:xfrm>
            <a:off x="1645920" y="3291840"/>
            <a:ext cx="4160520" cy="365760"/>
          </a:xfrm>
          <a:prstGeom prst="rect">
            <a:avLst/>
          </a:prstGeom>
          <a:noFill/>
          <a:ln/>
        </p:spPr>
        <p:txBody>
          <a:bodyPr wrap="square" lIns="0" tIns="0" rIns="0" bIns="0" rtlCol="0" anchor="ctr"/>
          <a:lstStyle/>
          <a:p>
            <a:pPr indent="0" marL="0">
              <a:buNone/>
            </a:pPr>
            <a:r>
              <a:rPr lang="en-US" sz="1600" b="1" dirty="0">
                <a:solidFill>
                  <a:srgbClr val="111827"/>
                </a:solidFill>
                <a:latin typeface="Arial" pitchFamily="34" charset="0"/>
                <a:ea typeface="Arial" pitchFamily="34" charset="-122"/>
                <a:cs typeface="Arial" pitchFamily="34" charset="-120"/>
              </a:rPr>
              <a:t>Evidence graded before the model sees it</a:t>
            </a:r>
            <a:endParaRPr lang="en-US" sz="1600" dirty="0"/>
          </a:p>
        </p:txBody>
      </p:sp>
      <p:sp>
        <p:nvSpPr>
          <p:cNvPr id="18" name="Text 13"/>
          <p:cNvSpPr txBox="1"/>
          <p:nvPr/>
        </p:nvSpPr>
        <p:spPr>
          <a:xfrm>
            <a:off x="1645920" y="3675888"/>
            <a:ext cx="4160520" cy="822960"/>
          </a:xfrm>
          <a:prstGeom prst="rect">
            <a:avLst/>
          </a:prstGeom>
          <a:noFill/>
          <a:ln/>
        </p:spPr>
        <p:txBody>
          <a:bodyPr wrap="square" lIns="0" tIns="0" rIns="0" bIns="0" rtlCol="0" anchor="t"/>
          <a:lstStyle/>
          <a:p>
            <a:pPr indent="0" marL="0">
              <a:buNone/>
            </a:pPr>
            <a:r>
              <a:rPr lang="en-US" sz="1250" dirty="0">
                <a:solidFill>
                  <a:srgbClr val="374151"/>
                </a:solidFill>
                <a:latin typeface="Calibri" pitchFamily="34" charset="0"/>
                <a:ea typeface="Calibri" pitchFamily="34" charset="-122"/>
                <a:cs typeface="Calibri" pitchFamily="34" charset="-120"/>
              </a:rPr>
              <a:t>STRONG vs WEAK links keep honest claims at a fraud garage at 22, not 80. Uncited claim IDs are stripped.</a:t>
            </a:r>
            <a:endParaRPr lang="en-US" sz="1250" dirty="0"/>
          </a:p>
        </p:txBody>
      </p:sp>
      <p:sp>
        <p:nvSpPr>
          <p:cNvPr id="19" name="Shape 14"/>
          <p:cNvSpPr/>
          <p:nvPr/>
        </p:nvSpPr>
        <p:spPr>
          <a:xfrm>
            <a:off x="6172200" y="3108960"/>
            <a:ext cx="5440680" cy="1463040"/>
          </a:xfrm>
          <a:prstGeom prst="roundRect">
            <a:avLst>
              <a:gd name="adj" fmla="val 7500"/>
            </a:avLst>
          </a:prstGeom>
          <a:solidFill>
            <a:srgbClr val="FFFFFF"/>
          </a:solidFill>
          <a:ln w="12700">
            <a:solidFill>
              <a:srgbClr val="E5E7EB"/>
            </a:solidFill>
            <a:prstDash val="solid"/>
          </a:ln>
          <a:effectLst>
            <a:outerShdw sx="100000" sy="100000" kx="0" ky="0" algn="bl" rotWithShape="0" blurRad="101600" dist="25400" dir="5400000">
              <a:srgbClr val="000000">
                <a:alpha val="12000"/>
              </a:srgbClr>
            </a:outerShdw>
          </a:effectLst>
        </p:spPr>
      </p:sp>
      <p:sp>
        <p:nvSpPr>
          <p:cNvPr id="20" name="Shape 15"/>
          <p:cNvSpPr/>
          <p:nvPr/>
        </p:nvSpPr>
        <p:spPr>
          <a:xfrm>
            <a:off x="6400800" y="3383280"/>
            <a:ext cx="685800" cy="685800"/>
          </a:xfrm>
          <a:prstGeom prst="ellipse">
            <a:avLst/>
          </a:prstGeom>
          <a:solidFill>
            <a:srgbClr val="6D28D9"/>
          </a:solidFill>
          <a:ln w="12700">
            <a:solidFill>
              <a:srgbClr val="6D28D9"/>
            </a:solidFill>
            <a:prstDash val="solid"/>
          </a:ln>
        </p:spPr>
      </p:sp>
      <p:pic>
        <p:nvPicPr>
          <p:cNvPr id="21" name="Image 3" descr="preencoded.png">    </p:cNvPr>
          <p:cNvPicPr>
            <a:picLocks noChangeAspect="1"/>
          </p:cNvPicPr>
          <p:nvPr/>
        </p:nvPicPr>
        <p:blipFill>
          <a:blip r:embed="rId4"/>
          <a:stretch>
            <a:fillRect/>
          </a:stretch>
        </p:blipFill>
        <p:spPr>
          <a:xfrm>
            <a:off x="6572250" y="3554730"/>
            <a:ext cx="342900" cy="342900"/>
          </a:xfrm>
          <a:prstGeom prst="rect">
            <a:avLst/>
          </a:prstGeom>
        </p:spPr>
      </p:pic>
      <p:sp>
        <p:nvSpPr>
          <p:cNvPr id="22" name="Text 16"/>
          <p:cNvSpPr txBox="1"/>
          <p:nvPr/>
        </p:nvSpPr>
        <p:spPr>
          <a:xfrm>
            <a:off x="7269480" y="3291840"/>
            <a:ext cx="4160520" cy="365760"/>
          </a:xfrm>
          <a:prstGeom prst="rect">
            <a:avLst/>
          </a:prstGeom>
          <a:noFill/>
          <a:ln/>
        </p:spPr>
        <p:txBody>
          <a:bodyPr wrap="square" lIns="0" tIns="0" rIns="0" bIns="0" rtlCol="0" anchor="ctr"/>
          <a:lstStyle/>
          <a:p>
            <a:pPr indent="0" marL="0">
              <a:buNone/>
            </a:pPr>
            <a:r>
              <a:rPr lang="en-US" sz="1600" b="1" dirty="0">
                <a:solidFill>
                  <a:srgbClr val="111827"/>
                </a:solidFill>
                <a:latin typeface="Arial" pitchFamily="34" charset="0"/>
                <a:ea typeface="Arial" pitchFamily="34" charset="-122"/>
                <a:cs typeface="Arial" pitchFamily="34" charset="-120"/>
              </a:rPr>
              <a:t>Measured with a leak-free ablation</a:t>
            </a:r>
            <a:endParaRPr lang="en-US" sz="1600" dirty="0"/>
          </a:p>
        </p:txBody>
      </p:sp>
      <p:sp>
        <p:nvSpPr>
          <p:cNvPr id="23" name="Text 17"/>
          <p:cNvSpPr txBox="1"/>
          <p:nvPr/>
        </p:nvSpPr>
        <p:spPr>
          <a:xfrm>
            <a:off x="7269480" y="3675888"/>
            <a:ext cx="4160520" cy="822960"/>
          </a:xfrm>
          <a:prstGeom prst="rect">
            <a:avLst/>
          </a:prstGeom>
          <a:noFill/>
          <a:ln/>
        </p:spPr>
        <p:txBody>
          <a:bodyPr wrap="square" lIns="0" tIns="0" rIns="0" bIns="0" rtlCol="0" anchor="t"/>
          <a:lstStyle/>
          <a:p>
            <a:pPr indent="0" marL="0">
              <a:buNone/>
            </a:pPr>
            <a:r>
              <a:rPr lang="en-US" sz="1250" dirty="0">
                <a:solidFill>
                  <a:srgbClr val="374151"/>
                </a:solidFill>
                <a:latin typeface="Calibri" pitchFamily="34" charset="0"/>
                <a:ea typeface="Calibri" pitchFamily="34" charset="-122"/>
                <a:cs typeface="Calibri" pitchFamily="34" charset="-120"/>
              </a:rPr>
              <a:t>Same model, same prompt, with vs without memory, over nine months of claims in date order.</a:t>
            </a:r>
            <a:endParaRPr lang="en-US" sz="1250" dirty="0"/>
          </a:p>
        </p:txBody>
      </p:sp>
      <p:sp>
        <p:nvSpPr>
          <p:cNvPr id="24" name="Shape 18"/>
          <p:cNvSpPr/>
          <p:nvPr/>
        </p:nvSpPr>
        <p:spPr>
          <a:xfrm>
            <a:off x="548640" y="4754880"/>
            <a:ext cx="5440680" cy="1463040"/>
          </a:xfrm>
          <a:prstGeom prst="roundRect">
            <a:avLst>
              <a:gd name="adj" fmla="val 7500"/>
            </a:avLst>
          </a:prstGeom>
          <a:solidFill>
            <a:srgbClr val="FFFFFF"/>
          </a:solidFill>
          <a:ln w="12700">
            <a:solidFill>
              <a:srgbClr val="E5E7EB"/>
            </a:solidFill>
            <a:prstDash val="solid"/>
          </a:ln>
          <a:effectLst>
            <a:outerShdw sx="100000" sy="100000" kx="0" ky="0" algn="bl" rotWithShape="0" blurRad="101600" dist="25400" dir="5400000">
              <a:srgbClr val="000000">
                <a:alpha val="12000"/>
              </a:srgbClr>
            </a:outerShdw>
          </a:effectLst>
        </p:spPr>
      </p:sp>
      <p:sp>
        <p:nvSpPr>
          <p:cNvPr id="25" name="Shape 19"/>
          <p:cNvSpPr/>
          <p:nvPr/>
        </p:nvSpPr>
        <p:spPr>
          <a:xfrm>
            <a:off x="777240" y="5029200"/>
            <a:ext cx="685800" cy="685800"/>
          </a:xfrm>
          <a:prstGeom prst="ellipse">
            <a:avLst/>
          </a:prstGeom>
          <a:solidFill>
            <a:srgbClr val="6D28D9"/>
          </a:solidFill>
          <a:ln w="12700">
            <a:solidFill>
              <a:srgbClr val="6D28D9"/>
            </a:solidFill>
            <a:prstDash val="solid"/>
          </a:ln>
        </p:spPr>
      </p:sp>
      <p:pic>
        <p:nvPicPr>
          <p:cNvPr id="26" name="Image 4" descr="preencoded.png">    </p:cNvPr>
          <p:cNvPicPr>
            <a:picLocks noChangeAspect="1"/>
          </p:cNvPicPr>
          <p:nvPr/>
        </p:nvPicPr>
        <p:blipFill>
          <a:blip r:embed="rId5"/>
          <a:stretch>
            <a:fillRect/>
          </a:stretch>
        </p:blipFill>
        <p:spPr>
          <a:xfrm>
            <a:off x="948690" y="5200650"/>
            <a:ext cx="342900" cy="342900"/>
          </a:xfrm>
          <a:prstGeom prst="rect">
            <a:avLst/>
          </a:prstGeom>
        </p:spPr>
      </p:pic>
      <p:sp>
        <p:nvSpPr>
          <p:cNvPr id="27" name="Text 20"/>
          <p:cNvSpPr txBox="1"/>
          <p:nvPr/>
        </p:nvSpPr>
        <p:spPr>
          <a:xfrm>
            <a:off x="1645920" y="4937760"/>
            <a:ext cx="4160520" cy="365760"/>
          </a:xfrm>
          <a:prstGeom prst="rect">
            <a:avLst/>
          </a:prstGeom>
          <a:noFill/>
          <a:ln/>
        </p:spPr>
        <p:txBody>
          <a:bodyPr wrap="square" lIns="0" tIns="0" rIns="0" bIns="0" rtlCol="0" anchor="ctr"/>
          <a:lstStyle/>
          <a:p>
            <a:pPr indent="0" marL="0">
              <a:buNone/>
            </a:pPr>
            <a:r>
              <a:rPr lang="en-US" sz="1600" b="1" dirty="0">
                <a:solidFill>
                  <a:srgbClr val="111827"/>
                </a:solidFill>
                <a:latin typeface="Arial" pitchFamily="34" charset="0"/>
                <a:ea typeface="Arial" pitchFamily="34" charset="-122"/>
                <a:cs typeface="Arial" pitchFamily="34" charset="-120"/>
              </a:rPr>
              <a:t>Rules of evidence in the memory bank</a:t>
            </a:r>
            <a:endParaRPr lang="en-US" sz="1600" dirty="0"/>
          </a:p>
        </p:txBody>
      </p:sp>
      <p:sp>
        <p:nvSpPr>
          <p:cNvPr id="28" name="Text 21"/>
          <p:cNvSpPr txBox="1"/>
          <p:nvPr/>
        </p:nvSpPr>
        <p:spPr>
          <a:xfrm>
            <a:off x="1645920" y="5321808"/>
            <a:ext cx="4160520" cy="822960"/>
          </a:xfrm>
          <a:prstGeom prst="rect">
            <a:avLst/>
          </a:prstGeom>
          <a:noFill/>
          <a:ln/>
        </p:spPr>
        <p:txBody>
          <a:bodyPr wrap="square" lIns="0" tIns="0" rIns="0" bIns="0" rtlCol="0" anchor="t"/>
          <a:lstStyle/>
          <a:p>
            <a:pPr indent="0" marL="0">
              <a:buNone/>
            </a:pPr>
            <a:r>
              <a:rPr lang="en-US" sz="1250" dirty="0">
                <a:solidFill>
                  <a:srgbClr val="374151"/>
                </a:solidFill>
                <a:latin typeface="Calibri" pitchFamily="34" charset="0"/>
                <a:ea typeface="Calibri" pitchFamily="34" charset="-122"/>
                <a:cs typeface="Calibri" pitchFamily="34" charset="-120"/>
              </a:rPr>
              <a:t>Hindsight directives: a lead is not proof · cite claim IDs · volume is not fraud · respect cleared cases.</a:t>
            </a:r>
            <a:endParaRPr lang="en-US" sz="1250" dirty="0"/>
          </a:p>
        </p:txBody>
      </p:sp>
      <p:sp>
        <p:nvSpPr>
          <p:cNvPr id="29" name="Shape 22"/>
          <p:cNvSpPr/>
          <p:nvPr/>
        </p:nvSpPr>
        <p:spPr>
          <a:xfrm>
            <a:off x="6172200" y="4754880"/>
            <a:ext cx="5440680" cy="1463040"/>
          </a:xfrm>
          <a:prstGeom prst="roundRect">
            <a:avLst>
              <a:gd name="adj" fmla="val 7500"/>
            </a:avLst>
          </a:prstGeom>
          <a:solidFill>
            <a:srgbClr val="FFFFFF"/>
          </a:solidFill>
          <a:ln w="12700">
            <a:solidFill>
              <a:srgbClr val="E5E7EB"/>
            </a:solidFill>
            <a:prstDash val="solid"/>
          </a:ln>
          <a:effectLst>
            <a:outerShdw sx="100000" sy="100000" kx="0" ky="0" algn="bl" rotWithShape="0" blurRad="101600" dist="25400" dir="5400000">
              <a:srgbClr val="000000">
                <a:alpha val="12000"/>
              </a:srgbClr>
            </a:outerShdw>
          </a:effectLst>
        </p:spPr>
      </p:sp>
      <p:sp>
        <p:nvSpPr>
          <p:cNvPr id="30" name="Shape 23"/>
          <p:cNvSpPr/>
          <p:nvPr/>
        </p:nvSpPr>
        <p:spPr>
          <a:xfrm>
            <a:off x="6400800" y="5029200"/>
            <a:ext cx="685800" cy="685800"/>
          </a:xfrm>
          <a:prstGeom prst="ellipse">
            <a:avLst/>
          </a:prstGeom>
          <a:solidFill>
            <a:srgbClr val="6D28D9"/>
          </a:solidFill>
          <a:ln w="12700">
            <a:solidFill>
              <a:srgbClr val="6D28D9"/>
            </a:solidFill>
            <a:prstDash val="solid"/>
          </a:ln>
        </p:spPr>
      </p:sp>
      <p:pic>
        <p:nvPicPr>
          <p:cNvPr id="31" name="Image 5" descr="preencoded.png">    </p:cNvPr>
          <p:cNvPicPr>
            <a:picLocks noChangeAspect="1"/>
          </p:cNvPicPr>
          <p:nvPr/>
        </p:nvPicPr>
        <p:blipFill>
          <a:blip r:embed="rId6"/>
          <a:stretch>
            <a:fillRect/>
          </a:stretch>
        </p:blipFill>
        <p:spPr>
          <a:xfrm>
            <a:off x="6572250" y="5200650"/>
            <a:ext cx="342900" cy="342900"/>
          </a:xfrm>
          <a:prstGeom prst="rect">
            <a:avLst/>
          </a:prstGeom>
        </p:spPr>
      </p:pic>
      <p:sp>
        <p:nvSpPr>
          <p:cNvPr id="32" name="Text 24"/>
          <p:cNvSpPr txBox="1"/>
          <p:nvPr/>
        </p:nvSpPr>
        <p:spPr>
          <a:xfrm>
            <a:off x="7269480" y="4937760"/>
            <a:ext cx="4160520" cy="365760"/>
          </a:xfrm>
          <a:prstGeom prst="rect">
            <a:avLst/>
          </a:prstGeom>
          <a:noFill/>
          <a:ln/>
        </p:spPr>
        <p:txBody>
          <a:bodyPr wrap="square" lIns="0" tIns="0" rIns="0" bIns="0" rtlCol="0" anchor="ctr"/>
          <a:lstStyle/>
          <a:p>
            <a:pPr indent="0" marL="0">
              <a:buNone/>
            </a:pPr>
            <a:r>
              <a:rPr lang="en-US" sz="1600" b="1" dirty="0">
                <a:solidFill>
                  <a:srgbClr val="111827"/>
                </a:solidFill>
                <a:latin typeface="Arial" pitchFamily="34" charset="0"/>
                <a:ea typeface="Arial" pitchFamily="34" charset="-122"/>
                <a:cs typeface="Arial" pitchFamily="34" charset="-120"/>
              </a:rPr>
              <a:t>Built to be believed</a:t>
            </a:r>
            <a:endParaRPr lang="en-US" sz="1600" dirty="0"/>
          </a:p>
        </p:txBody>
      </p:sp>
      <p:sp>
        <p:nvSpPr>
          <p:cNvPr id="33" name="Text 25"/>
          <p:cNvSpPr txBox="1"/>
          <p:nvPr/>
        </p:nvSpPr>
        <p:spPr>
          <a:xfrm>
            <a:off x="7269480" y="5321808"/>
            <a:ext cx="4160520" cy="822960"/>
          </a:xfrm>
          <a:prstGeom prst="rect">
            <a:avLst/>
          </a:prstGeom>
          <a:noFill/>
          <a:ln/>
        </p:spPr>
        <p:txBody>
          <a:bodyPr wrap="square" lIns="0" tIns="0" rIns="0" bIns="0" rtlCol="0" anchor="t"/>
          <a:lstStyle/>
          <a:p>
            <a:pPr indent="0" marL="0">
              <a:buNone/>
            </a:pPr>
            <a:r>
              <a:rPr lang="en-US" sz="1250" dirty="0">
                <a:solidFill>
                  <a:srgbClr val="374151"/>
                </a:solidFill>
                <a:latin typeface="Calibri" pitchFamily="34" charset="0"/>
                <a:ea typeface="Calibri" pitchFamily="34" charset="-122"/>
                <a:cs typeface="Calibri" pitchFamily="34" charset="-120"/>
              </a:rPr>
              <a:t>22 tests incl. a contract test against the real Hindsight client, CI, rate-limit handling, a model fallback chain, an honest limitations section.</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82880"/>
            <a:ext cx="7315200" cy="274320"/>
          </a:xfrm>
          <a:prstGeom prst="rect">
            <a:avLst/>
          </a:prstGeom>
          <a:noFill/>
          <a:ln/>
        </p:spPr>
        <p:txBody>
          <a:bodyPr wrap="square" lIns="0" tIns="0" rIns="0" bIns="0" rtlCol="0" anchor="ctr"/>
          <a:lstStyle/>
          <a:p>
            <a:pPr indent="0" marL="0">
              <a:buNone/>
            </a:pPr>
            <a:r>
              <a:rPr lang="en-US" sz="1100" b="1" spc="300" kern="0" dirty="0">
                <a:solidFill>
                  <a:srgbClr val="6D28D9"/>
                </a:solidFill>
                <a:latin typeface="Arial" pitchFamily="34" charset="0"/>
                <a:ea typeface="Arial" pitchFamily="34" charset="-122"/>
                <a:cs typeface="Arial" pitchFamily="34" charset="-120"/>
              </a:rPr>
              <a:t>REAL-WORLD IMPACT</a:t>
            </a:r>
            <a:endParaRPr lang="en-US" sz="1100" dirty="0"/>
          </a:p>
        </p:txBody>
      </p:sp>
      <p:sp>
        <p:nvSpPr>
          <p:cNvPr id="3" name="Text 1"/>
          <p:cNvSpPr txBox="1"/>
          <p:nvPr/>
        </p:nvSpPr>
        <p:spPr>
          <a:xfrm>
            <a:off x="548640" y="411480"/>
            <a:ext cx="11094415" cy="731520"/>
          </a:xfrm>
          <a:prstGeom prst="rect">
            <a:avLst/>
          </a:prstGeom>
          <a:noFill/>
          <a:ln/>
        </p:spPr>
        <p:txBody>
          <a:bodyPr wrap="square" lIns="0" tIns="0" rIns="0" bIns="0" rtlCol="0" anchor="t"/>
          <a:lstStyle/>
          <a:p>
            <a:pPr indent="0" marL="0">
              <a:buNone/>
            </a:pPr>
            <a:r>
              <a:rPr lang="en-US" sz="3000" b="1" dirty="0">
                <a:solidFill>
                  <a:srgbClr val="111827"/>
                </a:solidFill>
                <a:latin typeface="Arial" pitchFamily="34" charset="0"/>
                <a:ea typeface="Arial" pitchFamily="34" charset="-122"/>
                <a:cs typeface="Arial" pitchFamily="34" charset="-120"/>
              </a:rPr>
              <a:t>A path an insurer's Fraud Monitoring Unit could take tomorrow</a:t>
            </a:r>
            <a:endParaRPr lang="en-US" sz="3000" dirty="0"/>
          </a:p>
        </p:txBody>
      </p:sp>
      <p:sp>
        <p:nvSpPr>
          <p:cNvPr id="4" name="Shape 2"/>
          <p:cNvSpPr/>
          <p:nvPr/>
        </p:nvSpPr>
        <p:spPr>
          <a:xfrm>
            <a:off x="548640" y="1600200"/>
            <a:ext cx="3520440" cy="2651760"/>
          </a:xfrm>
          <a:prstGeom prst="roundRect">
            <a:avLst>
              <a:gd name="adj" fmla="val 4138"/>
            </a:avLst>
          </a:prstGeom>
          <a:solidFill>
            <a:srgbClr val="F6F3FF"/>
          </a:solidFill>
          <a:ln w="12700">
            <a:solidFill>
              <a:srgbClr val="C4B5FD"/>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822960" y="1874520"/>
            <a:ext cx="502920" cy="502920"/>
          </a:xfrm>
          <a:prstGeom prst="ellipse">
            <a:avLst/>
          </a:prstGeom>
          <a:solidFill>
            <a:srgbClr val="6D28D9"/>
          </a:solidFill>
          <a:ln w="12700">
            <a:solidFill>
              <a:srgbClr val="6D28D9"/>
            </a:solidFill>
            <a:prstDash val="solid"/>
          </a:ln>
        </p:spPr>
      </p:sp>
      <p:sp>
        <p:nvSpPr>
          <p:cNvPr id="6" name="Text 4"/>
          <p:cNvSpPr txBox="1"/>
          <p:nvPr/>
        </p:nvSpPr>
        <p:spPr>
          <a:xfrm>
            <a:off x="822960" y="18745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7" name="Text 5"/>
          <p:cNvSpPr txBox="1"/>
          <p:nvPr/>
        </p:nvSpPr>
        <p:spPr>
          <a:xfrm>
            <a:off x="1463040" y="1901952"/>
            <a:ext cx="2468880" cy="457200"/>
          </a:xfrm>
          <a:prstGeom prst="rect">
            <a:avLst/>
          </a:prstGeom>
          <a:noFill/>
          <a:ln/>
        </p:spPr>
        <p:txBody>
          <a:bodyPr wrap="square" lIns="0" tIns="0" rIns="0" bIns="0" rtlCol="0" anchor="ctr"/>
          <a:lstStyle/>
          <a:p>
            <a:pPr indent="0" marL="0">
              <a:buNone/>
            </a:pPr>
            <a:r>
              <a:rPr lang="en-US" sz="1700" b="1" dirty="0">
                <a:solidFill>
                  <a:srgbClr val="111827"/>
                </a:solidFill>
                <a:latin typeface="Arial" pitchFamily="34" charset="0"/>
                <a:ea typeface="Arial" pitchFamily="34" charset="-122"/>
                <a:cs typeface="Arial" pitchFamily="34" charset="-120"/>
              </a:rPr>
              <a:t>Pilot · 4 weeks</a:t>
            </a:r>
            <a:endParaRPr lang="en-US" sz="1700" dirty="0"/>
          </a:p>
        </p:txBody>
      </p:sp>
      <p:sp>
        <p:nvSpPr>
          <p:cNvPr id="8" name="Text 6"/>
          <p:cNvSpPr txBox="1"/>
          <p:nvPr/>
        </p:nvSpPr>
        <p:spPr>
          <a:xfrm>
            <a:off x="822960" y="2560320"/>
            <a:ext cx="3017520" cy="1554480"/>
          </a:xfrm>
          <a:prstGeom prst="rect">
            <a:avLst/>
          </a:prstGeom>
          <a:noFill/>
          <a:ln/>
        </p:spPr>
        <p:txBody>
          <a:bodyPr wrap="square" lIns="0" tIns="0" rIns="0" bIns="0" rtlCol="0" anchor="t"/>
          <a:lstStyle/>
          <a:p>
            <a:pPr indent="0" marL="0">
              <a:buNone/>
            </a:pPr>
            <a:r>
              <a:rPr lang="en-US" sz="1400" dirty="0">
                <a:solidFill>
                  <a:srgbClr val="374151"/>
                </a:solidFill>
                <a:latin typeface="Calibri" pitchFamily="34" charset="0"/>
                <a:ea typeface="Calibri" pitchFamily="34" charset="-122"/>
                <a:cs typeface="Calibri" pitchFamily="34" charset="-120"/>
              </a:rPr>
              <a:t>Replay the insurer's own closed claims into a Hindsight bank with seed_memory.py; run the same with/without replay to measure lift on their data.</a:t>
            </a:r>
            <a:endParaRPr lang="en-US" sz="1400" dirty="0"/>
          </a:p>
        </p:txBody>
      </p:sp>
      <p:sp>
        <p:nvSpPr>
          <p:cNvPr id="9" name="Shape 7"/>
          <p:cNvSpPr/>
          <p:nvPr/>
        </p:nvSpPr>
        <p:spPr>
          <a:xfrm>
            <a:off x="4297680" y="1600200"/>
            <a:ext cx="3520440" cy="2651760"/>
          </a:xfrm>
          <a:prstGeom prst="roundRect">
            <a:avLst>
              <a:gd name="adj" fmla="val 4138"/>
            </a:avLst>
          </a:prstGeom>
          <a:solidFill>
            <a:srgbClr val="F7F7FB"/>
          </a:solidFill>
          <a:ln w="12700">
            <a:solidFill>
              <a:srgbClr val="E5E7EB"/>
            </a:solidFill>
            <a:prstDash val="solid"/>
          </a:ln>
          <a:effectLst>
            <a:outerShdw sx="100000" sy="100000" kx="0" ky="0" algn="bl" rotWithShape="0" blurRad="101600" dist="25400" dir="5400000">
              <a:srgbClr val="000000">
                <a:alpha val="12000"/>
              </a:srgbClr>
            </a:outerShdw>
          </a:effectLst>
        </p:spPr>
      </p:sp>
      <p:sp>
        <p:nvSpPr>
          <p:cNvPr id="10" name="Shape 8"/>
          <p:cNvSpPr/>
          <p:nvPr/>
        </p:nvSpPr>
        <p:spPr>
          <a:xfrm>
            <a:off x="4572000" y="1874520"/>
            <a:ext cx="502920" cy="502920"/>
          </a:xfrm>
          <a:prstGeom prst="ellipse">
            <a:avLst/>
          </a:prstGeom>
          <a:solidFill>
            <a:srgbClr val="6D28D9"/>
          </a:solidFill>
          <a:ln w="12700">
            <a:solidFill>
              <a:srgbClr val="6D28D9"/>
            </a:solidFill>
            <a:prstDash val="solid"/>
          </a:ln>
        </p:spPr>
      </p:sp>
      <p:sp>
        <p:nvSpPr>
          <p:cNvPr id="11" name="Text 9"/>
          <p:cNvSpPr txBox="1"/>
          <p:nvPr/>
        </p:nvSpPr>
        <p:spPr>
          <a:xfrm>
            <a:off x="4572000" y="18745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2" name="Text 10"/>
          <p:cNvSpPr txBox="1"/>
          <p:nvPr/>
        </p:nvSpPr>
        <p:spPr>
          <a:xfrm>
            <a:off x="5212080" y="1901952"/>
            <a:ext cx="2468880" cy="457200"/>
          </a:xfrm>
          <a:prstGeom prst="rect">
            <a:avLst/>
          </a:prstGeom>
          <a:noFill/>
          <a:ln/>
        </p:spPr>
        <p:txBody>
          <a:bodyPr wrap="square" lIns="0" tIns="0" rIns="0" bIns="0" rtlCol="0" anchor="ctr"/>
          <a:lstStyle/>
          <a:p>
            <a:pPr indent="0" marL="0">
              <a:buNone/>
            </a:pPr>
            <a:r>
              <a:rPr lang="en-US" sz="1700" b="1" dirty="0">
                <a:solidFill>
                  <a:srgbClr val="111827"/>
                </a:solidFill>
                <a:latin typeface="Arial" pitchFamily="34" charset="0"/>
                <a:ea typeface="Arial" pitchFamily="34" charset="-122"/>
                <a:cs typeface="Arial" pitchFamily="34" charset="-120"/>
              </a:rPr>
              <a:t>Shadow mode</a:t>
            </a:r>
            <a:endParaRPr lang="en-US" sz="1700" dirty="0"/>
          </a:p>
        </p:txBody>
      </p:sp>
      <p:sp>
        <p:nvSpPr>
          <p:cNvPr id="13" name="Text 11"/>
          <p:cNvSpPr txBox="1"/>
          <p:nvPr/>
        </p:nvSpPr>
        <p:spPr>
          <a:xfrm>
            <a:off x="4572000" y="2560320"/>
            <a:ext cx="3017520" cy="1554480"/>
          </a:xfrm>
          <a:prstGeom prst="rect">
            <a:avLst/>
          </a:prstGeom>
          <a:noFill/>
          <a:ln/>
        </p:spPr>
        <p:txBody>
          <a:bodyPr wrap="square" lIns="0" tIns="0" rIns="0" bIns="0" rtlCol="0" anchor="t"/>
          <a:lstStyle/>
          <a:p>
            <a:pPr indent="0" marL="0">
              <a:buNone/>
            </a:pPr>
            <a:r>
              <a:rPr lang="en-US" sz="1400" dirty="0">
                <a:solidFill>
                  <a:srgbClr val="374151"/>
                </a:solidFill>
                <a:latin typeface="Calibri" pitchFamily="34" charset="0"/>
                <a:ea typeface="Calibri" pitchFamily="34" charset="-122"/>
                <a:cs typeface="Calibri" pitchFamily="34" charset="-120"/>
              </a:rPr>
              <a:t>ClaimLens scores every new claim alongside today's process; investigators record outcomes, so memory learns their unit's patterns.</a:t>
            </a:r>
            <a:endParaRPr lang="en-US" sz="1400" dirty="0"/>
          </a:p>
        </p:txBody>
      </p:sp>
      <p:sp>
        <p:nvSpPr>
          <p:cNvPr id="14" name="Shape 12"/>
          <p:cNvSpPr/>
          <p:nvPr/>
        </p:nvSpPr>
        <p:spPr>
          <a:xfrm>
            <a:off x="8046720" y="1600200"/>
            <a:ext cx="3520440" cy="2651760"/>
          </a:xfrm>
          <a:prstGeom prst="roundRect">
            <a:avLst>
              <a:gd name="adj" fmla="val 4138"/>
            </a:avLst>
          </a:prstGeom>
          <a:solidFill>
            <a:srgbClr val="F7F7FB"/>
          </a:solidFill>
          <a:ln w="12700">
            <a:solidFill>
              <a:srgbClr val="E5E7EB"/>
            </a:solidFill>
            <a:prstDash val="solid"/>
          </a:ln>
          <a:effectLst>
            <a:outerShdw sx="100000" sy="100000" kx="0" ky="0" algn="bl" rotWithShape="0" blurRad="101600" dist="25400" dir="5400000">
              <a:srgbClr val="000000">
                <a:alpha val="12000"/>
              </a:srgbClr>
            </a:outerShdw>
          </a:effectLst>
        </p:spPr>
      </p:sp>
      <p:sp>
        <p:nvSpPr>
          <p:cNvPr id="15" name="Shape 13"/>
          <p:cNvSpPr/>
          <p:nvPr/>
        </p:nvSpPr>
        <p:spPr>
          <a:xfrm>
            <a:off x="8321040" y="1874520"/>
            <a:ext cx="502920" cy="502920"/>
          </a:xfrm>
          <a:prstGeom prst="ellipse">
            <a:avLst/>
          </a:prstGeom>
          <a:solidFill>
            <a:srgbClr val="6D28D9"/>
          </a:solidFill>
          <a:ln w="12700">
            <a:solidFill>
              <a:srgbClr val="6D28D9"/>
            </a:solidFill>
            <a:prstDash val="solid"/>
          </a:ln>
        </p:spPr>
      </p:sp>
      <p:sp>
        <p:nvSpPr>
          <p:cNvPr id="16" name="Text 14"/>
          <p:cNvSpPr txBox="1"/>
          <p:nvPr/>
        </p:nvSpPr>
        <p:spPr>
          <a:xfrm>
            <a:off x="8321040" y="18745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7" name="Text 15"/>
          <p:cNvSpPr txBox="1"/>
          <p:nvPr/>
        </p:nvSpPr>
        <p:spPr>
          <a:xfrm>
            <a:off x="8961120" y="1901952"/>
            <a:ext cx="2468880" cy="457200"/>
          </a:xfrm>
          <a:prstGeom prst="rect">
            <a:avLst/>
          </a:prstGeom>
          <a:noFill/>
          <a:ln/>
        </p:spPr>
        <p:txBody>
          <a:bodyPr wrap="square" lIns="0" tIns="0" rIns="0" bIns="0" rtlCol="0" anchor="ctr"/>
          <a:lstStyle/>
          <a:p>
            <a:pPr indent="0" marL="0">
              <a:buNone/>
            </a:pPr>
            <a:r>
              <a:rPr lang="en-US" sz="1700" b="1" dirty="0">
                <a:solidFill>
                  <a:srgbClr val="111827"/>
                </a:solidFill>
                <a:latin typeface="Arial" pitchFamily="34" charset="0"/>
                <a:ea typeface="Arial" pitchFamily="34" charset="-122"/>
                <a:cs typeface="Arial" pitchFamily="34" charset="-120"/>
              </a:rPr>
              <a:t>Production</a:t>
            </a:r>
            <a:endParaRPr lang="en-US" sz="1700" dirty="0"/>
          </a:p>
        </p:txBody>
      </p:sp>
      <p:sp>
        <p:nvSpPr>
          <p:cNvPr id="18" name="Text 16"/>
          <p:cNvSpPr txBox="1"/>
          <p:nvPr/>
        </p:nvSpPr>
        <p:spPr>
          <a:xfrm>
            <a:off x="8321040" y="2560320"/>
            <a:ext cx="3017520" cy="1554480"/>
          </a:xfrm>
          <a:prstGeom prst="rect">
            <a:avLst/>
          </a:prstGeom>
          <a:noFill/>
          <a:ln/>
        </p:spPr>
        <p:txBody>
          <a:bodyPr wrap="square" lIns="0" tIns="0" rIns="0" bIns="0" rtlCol="0" anchor="t"/>
          <a:lstStyle/>
          <a:p>
            <a:pPr indent="0" marL="0">
              <a:buNone/>
            </a:pPr>
            <a:r>
              <a:rPr lang="en-US" sz="1400" dirty="0">
                <a:solidFill>
                  <a:srgbClr val="374151"/>
                </a:solidFill>
                <a:latin typeface="Calibri" pitchFamily="34" charset="0"/>
                <a:ea typeface="Calibri" pitchFamily="34" charset="-122"/>
                <a:cs typeface="Calibri" pitchFamily="34" charset="-120"/>
              </a:rPr>
              <a:t>One bank per insurer and line; import IIB caution-repository entries; webhooks push new ring patterns to the FMU.</a:t>
            </a:r>
            <a:endParaRPr lang="en-US" sz="1400" dirty="0"/>
          </a:p>
        </p:txBody>
      </p:sp>
      <p:sp>
        <p:nvSpPr>
          <p:cNvPr id="19" name="Shape 17"/>
          <p:cNvSpPr/>
          <p:nvPr/>
        </p:nvSpPr>
        <p:spPr>
          <a:xfrm>
            <a:off x="548640" y="4526280"/>
            <a:ext cx="5440680" cy="1783080"/>
          </a:xfrm>
          <a:prstGeom prst="roundRect">
            <a:avLst>
              <a:gd name="adj" fmla="val 6154"/>
            </a:avLst>
          </a:prstGeom>
          <a:solidFill>
            <a:srgbClr val="F7F7FB"/>
          </a:solidFill>
          <a:ln w="12700">
            <a:solidFill>
              <a:srgbClr val="E5E7EB"/>
            </a:solidFill>
            <a:prstDash val="solid"/>
          </a:ln>
          <a:effectLst>
            <a:outerShdw sx="100000" sy="100000" kx="0" ky="0" algn="bl" rotWithShape="0" blurRad="101600" dist="25400" dir="5400000">
              <a:srgbClr val="000000">
                <a:alpha val="12000"/>
              </a:srgbClr>
            </a:outerShdw>
          </a:effectLst>
        </p:spPr>
      </p:sp>
      <p:sp>
        <p:nvSpPr>
          <p:cNvPr id="20" name="Text 18"/>
          <p:cNvSpPr txBox="1"/>
          <p:nvPr/>
        </p:nvSpPr>
        <p:spPr>
          <a:xfrm>
            <a:off x="777240" y="4663440"/>
            <a:ext cx="5029200" cy="365760"/>
          </a:xfrm>
          <a:prstGeom prst="rect">
            <a:avLst/>
          </a:prstGeom>
          <a:noFill/>
          <a:ln/>
        </p:spPr>
        <p:txBody>
          <a:bodyPr wrap="square" lIns="0" tIns="0" rIns="0" bIns="0" rtlCol="0" anchor="ctr"/>
          <a:lstStyle/>
          <a:p>
            <a:pPr indent="0" marL="0">
              <a:buNone/>
            </a:pPr>
            <a:r>
              <a:rPr lang="en-US" sz="1500" b="1" dirty="0">
                <a:solidFill>
                  <a:srgbClr val="1E1B4B"/>
                </a:solidFill>
                <a:latin typeface="Arial" pitchFamily="34" charset="0"/>
                <a:ea typeface="Arial" pitchFamily="34" charset="-122"/>
                <a:cs typeface="Arial" pitchFamily="34" charset="-120"/>
              </a:rPr>
              <a:t>Maps to IRDAI's 2025 framework</a:t>
            </a:r>
            <a:endParaRPr lang="en-US" sz="1500" dirty="0"/>
          </a:p>
        </p:txBody>
      </p:sp>
      <p:sp>
        <p:nvSpPr>
          <p:cNvPr id="21" name="Text 19"/>
          <p:cNvSpPr txBox="1"/>
          <p:nvPr/>
        </p:nvSpPr>
        <p:spPr>
          <a:xfrm>
            <a:off x="777240" y="5029200"/>
            <a:ext cx="5029200" cy="1188720"/>
          </a:xfrm>
          <a:prstGeom prst="rect">
            <a:avLst/>
          </a:prstGeom>
          <a:noFill/>
          <a:ln/>
        </p:spPr>
        <p:txBody>
          <a:bodyPr wrap="square" lIns="0" tIns="0" rIns="0" bIns="0" rtlCol="0" anchor="ctr"/>
          <a:lstStyle/>
          <a:p>
            <a:pPr marL="342900" indent="-342900">
              <a:spcAft>
                <a:spcPts val="400"/>
              </a:spcAft>
              <a:buSzPct val="100000"/>
              <a:buChar char="•"/>
            </a:pPr>
            <a:r>
              <a:rPr lang="en-US" sz="1350" dirty="0">
                <a:solidFill>
                  <a:srgbClr val="374151"/>
                </a:solidFill>
                <a:latin typeface="Calibri" pitchFamily="34" charset="0"/>
                <a:ea typeface="Calibri" pitchFamily="34" charset="-122"/>
                <a:cs typeface="Calibri" pitchFamily="34" charset="-120"/>
              </a:rPr>
              <a:t>Red-flag indicators → STRONG/WEAK evidence</a:t>
            </a:r>
            <a:endParaRPr lang="en-US" sz="1350" dirty="0"/>
          </a:p>
          <a:p>
            <a:pPr marL="342900" indent="-342900">
              <a:spcAft>
                <a:spcPts val="400"/>
              </a:spcAft>
              <a:buSzPct val="100000"/>
              <a:buChar char="•"/>
            </a:pPr>
            <a:r>
              <a:rPr lang="en-US" sz="1350" dirty="0">
                <a:solidFill>
                  <a:srgbClr val="374151"/>
                </a:solidFill>
                <a:latin typeface="Calibri" pitchFamily="34" charset="0"/>
                <a:ea typeface="Calibri" pitchFamily="34" charset="-122"/>
                <a:cs typeface="Calibri" pitchFamily="34" charset="-120"/>
              </a:rPr>
              <a:t>Incident database → retained outcomes</a:t>
            </a:r>
            <a:endParaRPr lang="en-US" sz="1350" dirty="0"/>
          </a:p>
          <a:p>
            <a:pPr marL="342900" indent="-342900">
              <a:spcAft>
                <a:spcPts val="400"/>
              </a:spcAft>
              <a:buSzPct val="100000"/>
              <a:buChar char="•"/>
            </a:pPr>
            <a:r>
              <a:rPr lang="en-US" sz="1350" dirty="0">
                <a:solidFill>
                  <a:srgbClr val="374151"/>
                </a:solidFill>
                <a:latin typeface="Calibri" pitchFamily="34" charset="0"/>
                <a:ea typeface="Calibri" pitchFamily="34" charset="-122"/>
                <a:cs typeface="Calibri" pitchFamily="34" charset="-120"/>
              </a:rPr>
              <a:t>Fraud Monitoring Unit → the investigator workbench</a:t>
            </a:r>
            <a:endParaRPr lang="en-US" sz="1350" dirty="0"/>
          </a:p>
        </p:txBody>
      </p:sp>
      <p:sp>
        <p:nvSpPr>
          <p:cNvPr id="22" name="Shape 20"/>
          <p:cNvSpPr/>
          <p:nvPr/>
        </p:nvSpPr>
        <p:spPr>
          <a:xfrm>
            <a:off x="6172200" y="4526280"/>
            <a:ext cx="5440680" cy="1783080"/>
          </a:xfrm>
          <a:prstGeom prst="roundRect">
            <a:avLst>
              <a:gd name="adj" fmla="val 6154"/>
            </a:avLst>
          </a:prstGeom>
          <a:solidFill>
            <a:srgbClr val="FDECEC"/>
          </a:solidFill>
          <a:ln w="12700">
            <a:solidFill>
              <a:srgbClr val="F3B0B0"/>
            </a:solidFill>
            <a:prstDash val="solid"/>
          </a:ln>
          <a:effectLst>
            <a:outerShdw sx="100000" sy="100000" kx="0" ky="0" algn="bl" rotWithShape="0" blurRad="101600" dist="25400" dir="5400000">
              <a:srgbClr val="000000">
                <a:alpha val="12000"/>
              </a:srgbClr>
            </a:outerShdw>
          </a:effectLst>
        </p:spPr>
      </p:sp>
      <p:pic>
        <p:nvPicPr>
          <p:cNvPr id="23" name="Image 0" descr="preencoded.png">    </p:cNvPr>
          <p:cNvPicPr>
            <a:picLocks noChangeAspect="1"/>
          </p:cNvPicPr>
          <p:nvPr/>
        </p:nvPicPr>
        <p:blipFill>
          <a:blip r:embed="rId1"/>
          <a:stretch>
            <a:fillRect/>
          </a:stretch>
        </p:blipFill>
        <p:spPr>
          <a:xfrm>
            <a:off x="6400800" y="4681728"/>
            <a:ext cx="365760" cy="365760"/>
          </a:xfrm>
          <a:prstGeom prst="rect">
            <a:avLst/>
          </a:prstGeom>
        </p:spPr>
      </p:pic>
      <p:sp>
        <p:nvSpPr>
          <p:cNvPr id="24" name="Text 21"/>
          <p:cNvSpPr txBox="1"/>
          <p:nvPr/>
        </p:nvSpPr>
        <p:spPr>
          <a:xfrm>
            <a:off x="6903720" y="4663440"/>
            <a:ext cx="4572000" cy="365760"/>
          </a:xfrm>
          <a:prstGeom prst="rect">
            <a:avLst/>
          </a:prstGeom>
          <a:noFill/>
          <a:ln/>
        </p:spPr>
        <p:txBody>
          <a:bodyPr wrap="square" lIns="0" tIns="0" rIns="0" bIns="0" rtlCol="0" anchor="ctr"/>
          <a:lstStyle/>
          <a:p>
            <a:pPr indent="0" marL="0">
              <a:buNone/>
            </a:pPr>
            <a:r>
              <a:rPr lang="en-US" sz="1500" b="1" dirty="0">
                <a:solidFill>
                  <a:srgbClr val="B91C1C"/>
                </a:solidFill>
                <a:latin typeface="Arial" pitchFamily="34" charset="0"/>
                <a:ea typeface="Arial" pitchFamily="34" charset="-122"/>
                <a:cs typeface="Arial" pitchFamily="34" charset="-120"/>
              </a:rPr>
              <a:t>Recommends; people decide</a:t>
            </a:r>
            <a:endParaRPr lang="en-US" sz="1500" dirty="0"/>
          </a:p>
        </p:txBody>
      </p:sp>
      <p:sp>
        <p:nvSpPr>
          <p:cNvPr id="25" name="Text 22"/>
          <p:cNvSpPr txBox="1"/>
          <p:nvPr/>
        </p:nvSpPr>
        <p:spPr>
          <a:xfrm>
            <a:off x="6400800" y="5074920"/>
            <a:ext cx="5029200" cy="1143000"/>
          </a:xfrm>
          <a:prstGeom prst="rect">
            <a:avLst/>
          </a:prstGeom>
          <a:noFill/>
          <a:ln/>
        </p:spPr>
        <p:txBody>
          <a:bodyPr wrap="square" lIns="0" tIns="0" rIns="0" bIns="0" rtlCol="0" anchor="t"/>
          <a:lstStyle/>
          <a:p>
            <a:pPr indent="0" marL="0">
              <a:buNone/>
            </a:pPr>
            <a:r>
              <a:rPr lang="en-US" sz="1350" dirty="0">
                <a:solidFill>
                  <a:srgbClr val="374151"/>
                </a:solidFill>
                <a:latin typeface="Calibri" pitchFamily="34" charset="0"/>
                <a:ea typeface="Calibri" pitchFamily="34" charset="-122"/>
                <a:cs typeface="Calibri" pitchFamily="34" charset="-120"/>
              </a:rPr>
              <a:t>ClaimLens never repudiates a claim. A pattern is a lead for investigation, and every flag cites the past claims it rests on, so an investigator can check it in seconds.</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1B4B"/>
        </a:solidFill>
      </p:bgPr>
    </p:bg>
    <p:spTree>
      <p:nvGrpSpPr>
        <p:cNvPr id="1" name=""/>
        <p:cNvGrpSpPr/>
        <p:nvPr/>
      </p:nvGrpSpPr>
      <p:grpSpPr>
        <a:xfrm>
          <a:off x="0" y="0"/>
          <a:ext cx="0" cy="0"/>
          <a:chOff x="0" y="0"/>
          <a:chExt cx="0" cy="0"/>
        </a:xfrm>
      </p:grpSpPr>
      <p:sp>
        <p:nvSpPr>
          <p:cNvPr id="2" name="Text 0"/>
          <p:cNvSpPr txBox="1"/>
          <p:nvPr/>
        </p:nvSpPr>
        <p:spPr>
          <a:xfrm>
            <a:off x="731520" y="1737360"/>
            <a:ext cx="10698480" cy="82296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Fraud rings hide in history.</a:t>
            </a:r>
            <a:endParaRPr lang="en-US" sz="4400" dirty="0"/>
          </a:p>
        </p:txBody>
      </p:sp>
      <p:sp>
        <p:nvSpPr>
          <p:cNvPr id="3" name="Text 1"/>
          <p:cNvSpPr txBox="1"/>
          <p:nvPr/>
        </p:nvSpPr>
        <p:spPr>
          <a:xfrm>
            <a:off x="731520" y="2560320"/>
            <a:ext cx="10698480" cy="822960"/>
          </a:xfrm>
          <a:prstGeom prst="rect">
            <a:avLst/>
          </a:prstGeom>
          <a:noFill/>
          <a:ln/>
        </p:spPr>
        <p:txBody>
          <a:bodyPr wrap="square" lIns="0" tIns="0" rIns="0" bIns="0" rtlCol="0" anchor="ctr"/>
          <a:lstStyle/>
          <a:p>
            <a:pPr indent="0" marL="0">
              <a:buNone/>
            </a:pPr>
            <a:r>
              <a:rPr lang="en-US" sz="4400" b="1" dirty="0">
                <a:solidFill>
                  <a:srgbClr val="A78BFA"/>
                </a:solidFill>
                <a:latin typeface="Arial" pitchFamily="34" charset="0"/>
                <a:ea typeface="Arial" pitchFamily="34" charset="-122"/>
                <a:cs typeface="Arial" pitchFamily="34" charset="-120"/>
              </a:rPr>
              <a:t>ClaimLens remembers it.</a:t>
            </a:r>
            <a:endParaRPr lang="en-US" sz="4400" dirty="0"/>
          </a:p>
        </p:txBody>
      </p:sp>
      <p:sp>
        <p:nvSpPr>
          <p:cNvPr id="4" name="Text 2"/>
          <p:cNvSpPr txBox="1"/>
          <p:nvPr/>
        </p:nvSpPr>
        <p:spPr>
          <a:xfrm>
            <a:off x="731520" y="3749040"/>
            <a:ext cx="1069848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0 → 11 of 12</a:t>
            </a:r>
            <a:pPr indent="0" marL="0">
              <a:buNone/>
            </a:pPr>
            <a:r>
              <a:rPr lang="en-US" sz="2000" dirty="0">
                <a:solidFill>
                  <a:srgbClr val="C4B5FD"/>
                </a:solidFill>
                <a:latin typeface="Calibri" pitchFamily="34" charset="0"/>
                <a:ea typeface="Calibri" pitchFamily="34" charset="-122"/>
                <a:cs typeface="Calibri" pitchFamily="34" charset="-120"/>
              </a:rPr>
              <a:t> fraud claims caught   ·   </a:t>
            </a:r>
            <a:pPr indent="0" marL="0">
              <a:buNone/>
            </a:pPr>
            <a:r>
              <a:rPr lang="en-US" sz="2000" b="1" dirty="0">
                <a:solidFill>
                  <a:srgbClr val="FFFFFF"/>
                </a:solidFill>
                <a:latin typeface="Calibri" pitchFamily="34" charset="0"/>
                <a:ea typeface="Calibri" pitchFamily="34" charset="-122"/>
                <a:cs typeface="Calibri" pitchFamily="34" charset="-120"/>
              </a:rPr>
              <a:t>0</a:t>
            </a:r>
            <a:pPr indent="0" marL="0">
              <a:buNone/>
            </a:pPr>
            <a:r>
              <a:rPr lang="en-US" sz="2000" dirty="0">
                <a:solidFill>
                  <a:srgbClr val="C4B5FD"/>
                </a:solidFill>
                <a:latin typeface="Calibri" pitchFamily="34" charset="0"/>
                <a:ea typeface="Calibri" pitchFamily="34" charset="-122"/>
                <a:cs typeface="Calibri" pitchFamily="34" charset="-120"/>
              </a:rPr>
              <a:t> honest claims flagged   ·   </a:t>
            </a:r>
            <a:pPr indent="0" marL="0">
              <a:buNone/>
            </a:pPr>
            <a:r>
              <a:rPr lang="en-US" sz="2000" dirty="0">
                <a:solidFill>
                  <a:srgbClr val="C4B5FD"/>
                </a:solidFill>
                <a:latin typeface="Calibri" pitchFamily="34" charset="0"/>
                <a:ea typeface="Calibri" pitchFamily="34" charset="-122"/>
                <a:cs typeface="Calibri" pitchFamily="34" charset="-120"/>
              </a:rPr>
              <a:t>same model, same prompt</a:t>
            </a:r>
            <a:endParaRPr lang="en-US" sz="2000" dirty="0"/>
          </a:p>
        </p:txBody>
      </p:sp>
      <p:sp>
        <p:nvSpPr>
          <p:cNvPr id="5" name="Text 3"/>
          <p:cNvSpPr txBox="1"/>
          <p:nvPr/>
        </p:nvSpPr>
        <p:spPr>
          <a:xfrm>
            <a:off x="731520" y="4937760"/>
            <a:ext cx="7315200" cy="4114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github.com/rishighosal/claimlens</a:t>
            </a:r>
            <a:endParaRPr lang="en-US" sz="1800" dirty="0"/>
          </a:p>
        </p:txBody>
      </p:sp>
      <p:sp>
        <p:nvSpPr>
          <p:cNvPr id="6" name="Text 4"/>
          <p:cNvSpPr txBox="1"/>
          <p:nvPr/>
        </p:nvSpPr>
        <p:spPr>
          <a:xfrm>
            <a:off x="731520" y="5394960"/>
            <a:ext cx="9144000" cy="365760"/>
          </a:xfrm>
          <a:prstGeom prst="rect">
            <a:avLst/>
          </a:prstGeom>
          <a:noFill/>
          <a:ln/>
        </p:spPr>
        <p:txBody>
          <a:bodyPr wrap="square" lIns="0" tIns="0" rIns="0" bIns="0" rtlCol="0" anchor="ctr"/>
          <a:lstStyle/>
          <a:p>
            <a:pPr indent="0" marL="0">
              <a:buNone/>
            </a:pPr>
            <a:r>
              <a:rPr lang="en-US" sz="1400" dirty="0">
                <a:solidFill>
                  <a:srgbClr val="A5B4FC"/>
                </a:solidFill>
                <a:latin typeface="Calibri" pitchFamily="34" charset="0"/>
                <a:ea typeface="Calibri" pitchFamily="34" charset="-122"/>
                <a:cs typeface="Calibri" pitchFamily="34" charset="-120"/>
              </a:rPr>
              <a:t>Built on Hindsight agent memory by Vectorize · hindsight.vectorize.io</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ClaimLens</dc:title>
  <dc:subject>PptxGenJS Presentation</dc:subject>
  <dc:creator>PptxGenJS</dc:creator>
  <cp:lastModifiedBy>PptxGenJS</cp:lastModifiedBy>
  <cp:revision>1</cp:revision>
  <dcterms:created xsi:type="dcterms:W3CDTF">2026-09-27T18:27:53Z</dcterms:created>
  <dcterms:modified xsi:type="dcterms:W3CDTF">2026-09-27T18:27:53Z</dcterms:modified>
</cp:coreProperties>
</file>